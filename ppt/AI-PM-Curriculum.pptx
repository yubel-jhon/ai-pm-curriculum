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1463040" cy="54864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Microsoft YaHei"/>
                <a:ea typeface="Microsoft YaHei"/>
              </a:rPr>
              <a:t>产品经理就业知识体系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546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BFD0E8"/>
                </a:solidFill>
                <a:latin typeface="Microsoft YaHei"/>
                <a:ea typeface="Microsoft YaHei"/>
              </a:rPr>
              <a:t>AI 增补版 · 课程全景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77639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EA3C4"/>
                </a:solidFill>
                <a:latin typeface="Microsoft YaHei"/>
                <a:ea typeface="Microsoft YaHei"/>
              </a:rPr>
              <a:t>通用底座 ①–⑦  ·  AI 增补层 ⑧–⑪  ·  v0.2.0 · 2026-08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806440"/>
            <a:ext cx="740664" cy="457200"/>
          </a:xfrm>
          <a:prstGeom prst="roundRect">
            <a:avLst>
              <a:gd name="adj" fmla="val 8000"/>
            </a:avLst>
          </a:prstGeom>
          <a:solidFill>
            <a:srgbClr val="2A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897879"/>
            <a:ext cx="74066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CFDDF0"/>
                </a:solidFill>
                <a:latin typeface="Microsoft YaHei"/>
                <a:ea typeface="Microsoft YaHei"/>
              </a:rPr>
              <a:t>需求·翻译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53895" y="5806440"/>
            <a:ext cx="740664" cy="457200"/>
          </a:xfrm>
          <a:prstGeom prst="roundRect">
            <a:avLst>
              <a:gd name="adj" fmla="val 8000"/>
            </a:avLst>
          </a:prstGeom>
          <a:solidFill>
            <a:srgbClr val="2A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53895" y="5897879"/>
            <a:ext cx="74066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CFDDF0"/>
                </a:solidFill>
                <a:latin typeface="Microsoft YaHei"/>
                <a:ea typeface="Microsoft YaHei"/>
              </a:rPr>
              <a:t>规划·落地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59152" y="5806440"/>
            <a:ext cx="740664" cy="457200"/>
          </a:xfrm>
          <a:prstGeom prst="roundRect">
            <a:avLst>
              <a:gd name="adj" fmla="val 8000"/>
            </a:avLst>
          </a:prstGeom>
          <a:solidFill>
            <a:srgbClr val="2A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59152" y="5897879"/>
            <a:ext cx="74066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CFDDF0"/>
                </a:solidFill>
                <a:latin typeface="Microsoft YaHei"/>
                <a:ea typeface="Microsoft YaHei"/>
              </a:rPr>
              <a:t>项目·交付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64408" y="5806440"/>
            <a:ext cx="740664" cy="457200"/>
          </a:xfrm>
          <a:prstGeom prst="roundRect">
            <a:avLst>
              <a:gd name="adj" fmla="val 8000"/>
            </a:avLst>
          </a:prstGeom>
          <a:solidFill>
            <a:srgbClr val="2A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64408" y="5897879"/>
            <a:ext cx="74066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CFDDF0"/>
                </a:solidFill>
                <a:latin typeface="Microsoft YaHei"/>
                <a:ea typeface="Microsoft YaHei"/>
              </a:rPr>
              <a:t>数据·验证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9664" y="5806440"/>
            <a:ext cx="740664" cy="457200"/>
          </a:xfrm>
          <a:prstGeom prst="roundRect">
            <a:avLst>
              <a:gd name="adj" fmla="val 8000"/>
            </a:avLst>
          </a:prstGeom>
          <a:solidFill>
            <a:srgbClr val="2A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69664" y="5897879"/>
            <a:ext cx="74066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CFDDF0"/>
                </a:solidFill>
                <a:latin typeface="Microsoft YaHei"/>
                <a:ea typeface="Microsoft YaHei"/>
              </a:rPr>
              <a:t>战略·方向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74920" y="5806440"/>
            <a:ext cx="859536" cy="457200"/>
          </a:xfrm>
          <a:prstGeom prst="roundRect">
            <a:avLst>
              <a:gd name="adj" fmla="val 8000"/>
            </a:avLst>
          </a:prstGeom>
          <a:solidFill>
            <a:srgbClr val="2A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74920" y="5897879"/>
            <a:ext cx="8595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CFDDF0"/>
                </a:solidFill>
                <a:latin typeface="Microsoft YaHei"/>
                <a:ea typeface="Microsoft YaHei"/>
              </a:rPr>
              <a:t>协作·影响力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9048" y="5806440"/>
            <a:ext cx="740664" cy="457200"/>
          </a:xfrm>
          <a:prstGeom prst="roundRect">
            <a:avLst>
              <a:gd name="adj" fmla="val 8000"/>
            </a:avLst>
          </a:prstGeom>
          <a:solidFill>
            <a:srgbClr val="2A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8" y="5897879"/>
            <a:ext cx="74066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CFDDF0"/>
                </a:solidFill>
                <a:latin typeface="Microsoft YaHei"/>
                <a:ea typeface="Microsoft YaHei"/>
              </a:rPr>
              <a:t>修养·底色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04304" y="5806440"/>
            <a:ext cx="740664" cy="457200"/>
          </a:xfrm>
          <a:prstGeom prst="roundRect">
            <a:avLst>
              <a:gd name="adj" fmla="val 8000"/>
            </a:avLst>
          </a:prstGeom>
          <a:solidFill>
            <a:srgbClr val="2A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04304" y="5897879"/>
            <a:ext cx="74066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CFDDF0"/>
                </a:solidFill>
                <a:latin typeface="Microsoft YaHei"/>
                <a:ea typeface="Microsoft YaHei"/>
              </a:rPr>
              <a:t>AI 认知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09560" y="5806440"/>
            <a:ext cx="621792" cy="457200"/>
          </a:xfrm>
          <a:prstGeom prst="roundRect">
            <a:avLst>
              <a:gd name="adj" fmla="val 8000"/>
            </a:avLst>
          </a:prstGeom>
          <a:solidFill>
            <a:srgbClr val="2A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09560" y="5897879"/>
            <a:ext cx="6217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CFDDF0"/>
                </a:solidFill>
                <a:latin typeface="Microsoft YaHei"/>
                <a:ea typeface="Microsoft YaHei"/>
              </a:rPr>
              <a:t>模型评估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95944" y="5806440"/>
            <a:ext cx="621792" cy="457200"/>
          </a:xfrm>
          <a:prstGeom prst="roundRect">
            <a:avLst>
              <a:gd name="adj" fmla="val 8000"/>
            </a:avLst>
          </a:prstGeom>
          <a:solidFill>
            <a:srgbClr val="2A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95944" y="5897879"/>
            <a:ext cx="6217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CFDDF0"/>
                </a:solidFill>
                <a:latin typeface="Microsoft YaHei"/>
                <a:ea typeface="Microsoft YaHei"/>
              </a:rPr>
              <a:t>信任安全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82328" y="5806440"/>
            <a:ext cx="740664" cy="457200"/>
          </a:xfrm>
          <a:prstGeom prst="roundRect">
            <a:avLst>
              <a:gd name="adj" fmla="val 8000"/>
            </a:avLst>
          </a:prstGeom>
          <a:solidFill>
            <a:srgbClr val="2A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82328" y="5897879"/>
            <a:ext cx="74066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CFDDF0"/>
                </a:solidFill>
                <a:latin typeface="Microsoft YaHei"/>
                <a:ea typeface="Microsoft YaHei"/>
              </a:rPr>
              <a:t>AI 经济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2937"/>
                </a:solidFill>
                <a:latin typeface="Microsoft YaHei"/>
                <a:ea typeface="Microsoft YaHei"/>
              </a:rPr>
              <a:t>课程全景：通用底座 + AI 增补层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Microsoft YaHei"/>
                <a:ea typeface="Microsoft YaHei"/>
              </a:rPr>
              <a:t>先看全景建立地图 → ①–⑦ 逐个吃透 → ⑧–⑪ 补 AI 岗位增量 → 附录自评查漏。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91672" cy="2743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5440680" cy="3977639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5440680" cy="64008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075688"/>
            <a:ext cx="4892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通用底座  product/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084831"/>
            <a:ext cx="1280160" cy="402336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2148839"/>
            <a:ext cx="1280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D6CDF"/>
                </a:solidFill>
                <a:latin typeface="Microsoft YaHei"/>
                <a:ea typeface="Microsoft YaHei"/>
              </a:rPr>
              <a:t>人人都会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74320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D6CDF"/>
                </a:solidFill>
                <a:latin typeface="Microsoft YaHei"/>
                <a:ea typeface="Microsoft YaHei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74320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2937"/>
                </a:solidFill>
                <a:latin typeface="Microsoft YaHei"/>
                <a:ea typeface="Microsoft YaHei"/>
              </a:rPr>
              <a:t>需求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74320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</a:rPr>
              <a:t>翻译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320040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D6CDF"/>
                </a:solidFill>
                <a:latin typeface="Microsoft YaHei"/>
                <a:ea typeface="Microsoft YaHei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20040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2937"/>
                </a:solidFill>
                <a:latin typeface="Microsoft YaHei"/>
                <a:ea typeface="Microsoft YaHei"/>
              </a:rPr>
              <a:t>规划设计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320040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</a:rPr>
              <a:t>落地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65760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D6CDF"/>
                </a:solidFill>
                <a:latin typeface="Microsoft YaHei"/>
                <a:ea typeface="Microsoft YaHei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65760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2937"/>
                </a:solidFill>
                <a:latin typeface="Microsoft YaHei"/>
                <a:ea typeface="Microsoft YaHei"/>
              </a:rPr>
              <a:t>项目管理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365760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</a:rPr>
              <a:t>交付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11480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D6CDF"/>
                </a:solidFill>
                <a:latin typeface="Microsoft YaHei"/>
                <a:ea typeface="Microsoft YaHei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11480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2937"/>
                </a:solidFill>
                <a:latin typeface="Microsoft YaHei"/>
                <a:ea typeface="Microsoft YaHei"/>
              </a:rPr>
              <a:t>数据分析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411480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</a:rPr>
              <a:t>验证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" y="457200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D6CDF"/>
                </a:solidFill>
                <a:latin typeface="Microsoft YaHei"/>
                <a:ea typeface="Microsoft YaHei"/>
              </a:rPr>
              <a:t>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457200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2937"/>
                </a:solidFill>
                <a:latin typeface="Microsoft YaHei"/>
                <a:ea typeface="Microsoft YaHei"/>
              </a:rPr>
              <a:t>商业战略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360" y="457200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</a:rPr>
              <a:t>方向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502920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D6CDF"/>
                </a:solidFill>
                <a:latin typeface="Microsoft YaHei"/>
                <a:ea typeface="Microsoft YaHei"/>
              </a:rPr>
              <a:t>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502920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2937"/>
                </a:solidFill>
                <a:latin typeface="Microsoft YaHei"/>
                <a:ea typeface="Microsoft YaHei"/>
              </a:rPr>
              <a:t>沟通协作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0360" y="502920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</a:rPr>
              <a:t>放大器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" y="548640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D6CDF"/>
                </a:solidFill>
                <a:latin typeface="Microsoft YaHei"/>
                <a:ea typeface="Microsoft YaHei"/>
              </a:rPr>
              <a:t>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548640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2937"/>
                </a:solidFill>
                <a:latin typeface="Microsoft YaHei"/>
                <a:ea typeface="Microsoft YaHei"/>
              </a:rPr>
              <a:t>学习与自我修养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80360" y="548640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</a:rPr>
              <a:t>底色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99632" y="1965960"/>
            <a:ext cx="5440680" cy="3977639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99632" y="1965960"/>
            <a:ext cx="5440680" cy="640080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73952" y="2075688"/>
            <a:ext cx="4892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AI 增补层  skill/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85832" y="2084831"/>
            <a:ext cx="1280160" cy="402336"/>
          </a:xfrm>
          <a:prstGeom prst="roundRect">
            <a:avLst>
              <a:gd name="adj" fmla="val 8000"/>
            </a:avLst>
          </a:prstGeom>
          <a:solidFill>
            <a:srgbClr val="E0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85832" y="2148839"/>
            <a:ext cx="1280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FA3A3"/>
                </a:solidFill>
                <a:latin typeface="Microsoft YaHei"/>
                <a:ea typeface="Microsoft YaHei"/>
              </a:rPr>
              <a:t>AI 岗位增量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3952" y="274320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FA3A3"/>
                </a:solidFill>
                <a:latin typeface="Microsoft YaHei"/>
                <a:ea typeface="Microsoft YaHei"/>
              </a:rPr>
              <a:t>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51192" y="274320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2937"/>
                </a:solidFill>
                <a:latin typeface="Microsoft YaHei"/>
                <a:ea typeface="Microsoft YaHei"/>
              </a:rPr>
              <a:t>AI 技术认知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31352" y="274320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</a:rPr>
              <a:t>能不能做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73952" y="320040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FA3A3"/>
                </a:solidFill>
                <a:latin typeface="Microsoft YaHei"/>
                <a:ea typeface="Microsoft YaHei"/>
              </a:rPr>
              <a:t>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51192" y="320040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2937"/>
                </a:solidFill>
                <a:latin typeface="Microsoft YaHei"/>
                <a:ea typeface="Microsoft YaHei"/>
              </a:rPr>
              <a:t>模型评估与数据闭环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31352" y="320040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</a:rPr>
              <a:t>做得好不好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73952" y="365760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FA3A3"/>
                </a:solidFill>
                <a:latin typeface="Microsoft YaHei"/>
                <a:ea typeface="Microsoft YaHei"/>
              </a:rPr>
              <a:t>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51192" y="365760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2937"/>
                </a:solidFill>
                <a:latin typeface="Microsoft YaHei"/>
                <a:ea typeface="Microsoft YaHei"/>
              </a:rPr>
              <a:t>信任安全与伦理合规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31352" y="365760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</a:rPr>
              <a:t>守住底线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73952" y="411480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FA3A3"/>
                </a:solidFill>
                <a:latin typeface="Microsoft YaHei"/>
                <a:ea typeface="Microsoft YaHei"/>
              </a:rPr>
              <a:t>⑪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51192" y="411480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2937"/>
                </a:solidFill>
                <a:latin typeface="Microsoft YaHei"/>
                <a:ea typeface="Microsoft YaHei"/>
              </a:rPr>
              <a:t>AI 产品经济学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31352" y="411480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</a:rPr>
              <a:t>值不值 / 赚不赚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</a:rPr>
              <a:t>⑥ 沟通协作是「放大器」让 ①–⑤ 推得动；⑦ 自我修养是「底色」决定天花板。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6528816"/>
            <a:ext cx="11091672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6583680"/>
            <a:ext cx="8686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产品经理就业知识体系 · AI 增补版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60" y="6583680"/>
            <a:ext cx="16733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777240" cy="777240"/>
          </a:xfrm>
          <a:prstGeom prst="roundRect">
            <a:avLst>
              <a:gd name="adj" fmla="val 8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530352"/>
            <a:ext cx="7772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F2937"/>
                </a:solidFill>
                <a:latin typeface="Microsoft YaHei"/>
                <a:ea typeface="Microsoft YaHei"/>
              </a:rPr>
              <a:t>需求能力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92640" y="685800"/>
            <a:ext cx="1947672" cy="45720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0" y="777240"/>
            <a:ext cx="19476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D6CDF"/>
                </a:solidFill>
                <a:latin typeface="Microsoft YaHei"/>
                <a:ea typeface="Microsoft YaHei"/>
              </a:rPr>
              <a:t>侧重点 · 翻译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11091672" cy="27432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D6CDF"/>
                </a:solidFill>
                <a:latin typeface="Microsoft YaHei"/>
                <a:ea typeface="Microsoft YaHei"/>
              </a:rPr>
              <a:t>一句话归纳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57400"/>
            <a:ext cx="50292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F2937"/>
                </a:solidFill>
                <a:latin typeface="Microsoft YaHei"/>
                <a:ea typeface="Microsoft YaHei"/>
              </a:rPr>
              <a:t>需求能力 = 翻译能力，从现象到本质，从「用户要的」到「真正该做的」。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2900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D6CDF"/>
                </a:solidFill>
                <a:latin typeface="Microsoft YaHei"/>
                <a:ea typeface="Microsoft YaHei"/>
              </a:rPr>
              <a:t>关键术语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94760"/>
            <a:ext cx="50749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•  用户需求 vs 产品需求：用户要解决方案，产品要真实需求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•  需求采集四象限：定性 / 定量 × 说 / 做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•  DNA 检测：定属性 → 商业价值 → 实现难度 → 性价比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•  性价比 = 商业价值 ÷ 实现难度（开发人天）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•  分·总·分：拆属性 → 归共性 → 回场景验证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06440" y="1691640"/>
            <a:ext cx="5806440" cy="4343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思维导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0427" y="1892808"/>
            <a:ext cx="4298464" cy="3941063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48640" y="6071616"/>
            <a:ext cx="11091672" cy="402336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6071616"/>
            <a:ext cx="14630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D6CDF"/>
                </a:solidFill>
                <a:latin typeface="Microsoft YaHei"/>
                <a:ea typeface="Microsoft YaHei"/>
              </a:rPr>
              <a:t>AI 增量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6071616"/>
            <a:ext cx="94183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2937"/>
                </a:solidFill>
                <a:latin typeface="Microsoft YaHei"/>
                <a:ea typeface="Microsoft YaHei"/>
              </a:rPr>
              <a:t>板块⑧把「翻译」升级为「翻译成模型任务」——多一个判断维度（能不能用 AI 做）。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528816"/>
            <a:ext cx="11091672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83680"/>
            <a:ext cx="8686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产品经理就业知识体系 · AI 增补版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0" y="6583680"/>
            <a:ext cx="16733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777240" cy="777240"/>
          </a:xfrm>
          <a:prstGeom prst="roundRect">
            <a:avLst>
              <a:gd name="adj" fmla="val 8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530352"/>
            <a:ext cx="7772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F2937"/>
                </a:solidFill>
                <a:latin typeface="Microsoft YaHei"/>
                <a:ea typeface="Microsoft YaHei"/>
              </a:rPr>
              <a:t>规划设计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92640" y="685800"/>
            <a:ext cx="1947672" cy="45720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0" y="777240"/>
            <a:ext cx="19476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D6CDF"/>
                </a:solidFill>
                <a:latin typeface="Microsoft YaHei"/>
                <a:ea typeface="Microsoft YaHei"/>
              </a:rPr>
              <a:t>侧重点 · 落地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11091672" cy="27432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D6CDF"/>
                </a:solidFill>
                <a:latin typeface="Microsoft YaHei"/>
                <a:ea typeface="Microsoft YaHei"/>
              </a:rPr>
              <a:t>一句话归纳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57400"/>
            <a:ext cx="50292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F2937"/>
                </a:solidFill>
                <a:latin typeface="Microsoft YaHei"/>
                <a:ea typeface="Microsoft YaHei"/>
              </a:rPr>
              <a:t>规划设计 = 落地能力，把抽象变具体，把想法变可交付的约定。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2900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D6CDF"/>
                </a:solidFill>
                <a:latin typeface="Microsoft YaHei"/>
                <a:ea typeface="Microsoft YaHei"/>
              </a:rPr>
              <a:t>关键术语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94760"/>
            <a:ext cx="50749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•  产品 / 产品经理：发现并描述问题，转化为可交付的产品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•  大产品观：凡影响体验与公司价值的一切都属 PM 职责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•  BRD · MRD · PRD · FSD：值不值 → 给谁 → 做什么 → 怎么做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•  PRD 七大板块：目标 / 范围 / 场景 / 功能 / 非功能 / 验收 / 遗留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•  文档只是手段，服务于沟通与传承，不为写而写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06440" y="1691640"/>
            <a:ext cx="5806440" cy="4343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思维导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6922" y="1892808"/>
            <a:ext cx="5065475" cy="3941063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48640" y="6071616"/>
            <a:ext cx="11091672" cy="402336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6071616"/>
            <a:ext cx="14630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D6CDF"/>
                </a:solidFill>
                <a:latin typeface="Microsoft YaHei"/>
                <a:ea typeface="Microsoft YaHei"/>
              </a:rPr>
              <a:t>改造点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6071616"/>
            <a:ext cx="94183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2937"/>
                </a:solidFill>
                <a:latin typeface="Microsoft YaHei"/>
                <a:ea typeface="Microsoft YaHei"/>
              </a:rPr>
              <a:t>AI-native PRD 五要素：评估标准 / 模型约束 / 数据需求 / 埋点清单 / 防护兜底——核心多问一句「模型出错了怎么办」。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528816"/>
            <a:ext cx="11091672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83680"/>
            <a:ext cx="8686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产品经理就业知识体系 · AI 增补版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0" y="6583680"/>
            <a:ext cx="16733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777240" cy="777240"/>
          </a:xfrm>
          <a:prstGeom prst="roundRect">
            <a:avLst>
              <a:gd name="adj" fmla="val 8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530352"/>
            <a:ext cx="7772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F2937"/>
                </a:solidFill>
                <a:latin typeface="Microsoft YaHei"/>
                <a:ea typeface="Microsoft YaHei"/>
              </a:rPr>
              <a:t>项目管理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92640" y="685800"/>
            <a:ext cx="1947672" cy="45720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0" y="777240"/>
            <a:ext cx="19476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D6CDF"/>
                </a:solidFill>
                <a:latin typeface="Microsoft YaHei"/>
                <a:ea typeface="Microsoft YaHei"/>
              </a:rPr>
              <a:t>侧重点 · 交付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11091672" cy="27432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D6CDF"/>
                </a:solidFill>
                <a:latin typeface="Microsoft YaHei"/>
                <a:ea typeface="Microsoft YaHei"/>
              </a:rPr>
              <a:t>一句话归纳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57400"/>
            <a:ext cx="50292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F2937"/>
                </a:solidFill>
                <a:latin typeface="Microsoft YaHei"/>
                <a:ea typeface="Microsoft YaHei"/>
              </a:rPr>
              <a:t>项目管理 = 交付能力，多快好省的平衡术，把承诺变成结果。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2900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D6CDF"/>
                </a:solidFill>
                <a:latin typeface="Microsoft YaHei"/>
                <a:ea typeface="Microsoft YaHei"/>
              </a:rPr>
              <a:t>关键术语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94760"/>
            <a:ext cx="50749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•  项目：只做一次、包含多项互相关联任务的工作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•  多快好省（TRQ）：范围 / 时间 / 品质 / 资源不可兼得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•  WBS：任务自上而下分解到可分配可估算的粒度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•  三次评审：需求 / 设计 / 测试，防病优于治病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•  敏捷开发：迭代范围不变、小步快跑、快速反馈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06440" y="1691640"/>
            <a:ext cx="5806440" cy="4343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思维导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2810" y="1892808"/>
            <a:ext cx="4953698" cy="3941063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48640" y="6071616"/>
            <a:ext cx="11091672" cy="402336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6071616"/>
            <a:ext cx="14630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D6CDF"/>
                </a:solidFill>
                <a:latin typeface="Microsoft YaHei"/>
                <a:ea typeface="Microsoft YaHei"/>
              </a:rPr>
              <a:t>改造点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6071616"/>
            <a:ext cx="94183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2937"/>
                </a:solidFill>
                <a:latin typeface="Microsoft YaHei"/>
                <a:ea typeface="Microsoft YaHei"/>
              </a:rPr>
              <a:t>AI 交付与运营：分层发布（alpha→beta→GA）/ 回滚降级 / Kill Switch / Prompt 版本控制 / 漂移监控——AI 上线只是开始。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528816"/>
            <a:ext cx="11091672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83680"/>
            <a:ext cx="8686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产品经理就业知识体系 · AI 增补版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0" y="6583680"/>
            <a:ext cx="16733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777240" cy="777240"/>
          </a:xfrm>
          <a:prstGeom prst="roundRect">
            <a:avLst>
              <a:gd name="adj" fmla="val 8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530352"/>
            <a:ext cx="7772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F2937"/>
                </a:solidFill>
                <a:latin typeface="Microsoft YaHei"/>
                <a:ea typeface="Microsoft YaHei"/>
              </a:rPr>
              <a:t>数据分析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92640" y="685800"/>
            <a:ext cx="1947672" cy="45720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0" y="777240"/>
            <a:ext cx="19476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D6CDF"/>
                </a:solidFill>
                <a:latin typeface="Microsoft YaHei"/>
                <a:ea typeface="Microsoft YaHei"/>
              </a:rPr>
              <a:t>侧重点 · 验证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11091672" cy="27432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D6CDF"/>
                </a:solidFill>
                <a:latin typeface="Microsoft YaHei"/>
                <a:ea typeface="Microsoft YaHei"/>
              </a:rPr>
              <a:t>一句话归纳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57400"/>
            <a:ext cx="50292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F2937"/>
                </a:solidFill>
                <a:latin typeface="Microsoft YaHei"/>
                <a:ea typeface="Microsoft YaHei"/>
              </a:rPr>
              <a:t>数据分析 = 验证能力，从拍脑袋决策到用数据说话。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2900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D6CDF"/>
                </a:solidFill>
                <a:latin typeface="Microsoft YaHei"/>
                <a:ea typeface="Microsoft YaHei"/>
              </a:rPr>
              <a:t>关键术语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94760"/>
            <a:ext cx="50749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•  KPI：战略的具体表现，本质是手段而非目的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•  北极星指标：一个能代表产品长期价值的核心指标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•  漏斗与转化：每层流失都是优化机会，先查流失最大的一层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•  留存 / 活跃：留存是产品价值的照妖镜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•  A/B 测试：随机分两组对照，一次只改一个变量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06440" y="1691640"/>
            <a:ext cx="5806440" cy="4343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思维导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608" y="2321474"/>
            <a:ext cx="5404103" cy="3083731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48640" y="6071616"/>
            <a:ext cx="11091672" cy="402336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6071616"/>
            <a:ext cx="14630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D6CDF"/>
                </a:solidFill>
                <a:latin typeface="Microsoft YaHei"/>
                <a:ea typeface="Microsoft YaHei"/>
              </a:rPr>
              <a:t>改造点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6071616"/>
            <a:ext cx="94183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2937"/>
                </a:solidFill>
                <a:latin typeface="Microsoft YaHei"/>
                <a:ea typeface="Microsoft YaHei"/>
              </a:rPr>
              <a:t>模型指标看板：离线指标（F1 / 准确率）+ 在线指标（采纳率 / 任务完成率 / 人工接管率），两套都要盯。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528816"/>
            <a:ext cx="11091672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83680"/>
            <a:ext cx="8686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产品经理就业知识体系 · AI 增补版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0" y="6583680"/>
            <a:ext cx="16733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777240" cy="777240"/>
          </a:xfrm>
          <a:prstGeom prst="roundRect">
            <a:avLst>
              <a:gd name="adj" fmla="val 8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530352"/>
            <a:ext cx="7772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F2937"/>
                </a:solidFill>
                <a:latin typeface="Microsoft YaHei"/>
                <a:ea typeface="Microsoft YaHei"/>
              </a:rPr>
              <a:t>商业战略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92640" y="685800"/>
            <a:ext cx="1947672" cy="45720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0" y="777240"/>
            <a:ext cx="19476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D6CDF"/>
                </a:solidFill>
                <a:latin typeface="Microsoft YaHei"/>
                <a:ea typeface="Microsoft YaHei"/>
              </a:rPr>
              <a:t>侧重点 · 方向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11091672" cy="27432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D6CDF"/>
                </a:solidFill>
                <a:latin typeface="Microsoft YaHei"/>
                <a:ea typeface="Microsoft YaHei"/>
              </a:rPr>
              <a:t>一句话归纳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57400"/>
            <a:ext cx="50292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F2937"/>
                </a:solidFill>
                <a:latin typeface="Microsoft YaHei"/>
                <a:ea typeface="Microsoft YaHei"/>
              </a:rPr>
              <a:t>商业战略 = 方向能力，选对战场比打赢一场战斗更重要。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2900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D6CDF"/>
                </a:solidFill>
                <a:latin typeface="Microsoft YaHei"/>
                <a:ea typeface="Microsoft YaHei"/>
              </a:rPr>
              <a:t>关键术语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94760"/>
            <a:ext cx="50749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•  可行性三步曲：我们在哪儿 → 去哪儿 → 怎么去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•  PEST：政治 / 经济 / 社会 / 技术四维扫外部环境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•  SWOT：优势 / 劣势 / 机会 / 威胁，落到策略组合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•  价值观 → 使命 → 愿景 → 战略：层层炼成，先于执行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•  炮灰版 / 水平营销：价格锚点 + 新维度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06440" y="1691640"/>
            <a:ext cx="5806440" cy="4343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思维导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608" y="2308694"/>
            <a:ext cx="5404103" cy="3109291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48640" y="6071616"/>
            <a:ext cx="11091672" cy="402336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6071616"/>
            <a:ext cx="14630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D6CDF"/>
                </a:solidFill>
                <a:latin typeface="Microsoft YaHei"/>
                <a:ea typeface="Microsoft YaHei"/>
              </a:rPr>
              <a:t>改造点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6071616"/>
            <a:ext cx="94183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2937"/>
                </a:solidFill>
                <a:latin typeface="Microsoft YaHei"/>
                <a:ea typeface="Microsoft YaHei"/>
              </a:rPr>
              <a:t>数据飞轮与防御性（详见板块⑪）：AI 产品最值钱的资产是数据飞轮，不是算法本身。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528816"/>
            <a:ext cx="11091672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83680"/>
            <a:ext cx="8686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产品经理就业知识体系 · AI 增补版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0" y="6583680"/>
            <a:ext cx="16733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777240" cy="777240"/>
          </a:xfrm>
          <a:prstGeom prst="roundRect">
            <a:avLst>
              <a:gd name="adj" fmla="val 8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530352"/>
            <a:ext cx="7772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F2937"/>
                </a:solidFill>
                <a:latin typeface="Microsoft YaHei"/>
                <a:ea typeface="Microsoft YaHei"/>
              </a:rPr>
              <a:t>沟通协作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92640" y="685800"/>
            <a:ext cx="1947672" cy="45720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0" y="777240"/>
            <a:ext cx="19476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D6CDF"/>
                </a:solidFill>
                <a:latin typeface="Microsoft YaHei"/>
                <a:ea typeface="Microsoft YaHei"/>
              </a:rPr>
              <a:t>侧重点 · 影响力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11091672" cy="27432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D6CDF"/>
                </a:solidFill>
                <a:latin typeface="Microsoft YaHei"/>
                <a:ea typeface="Microsoft YaHei"/>
              </a:rPr>
              <a:t>一句话归纳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57400"/>
            <a:ext cx="50292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F2937"/>
                </a:solidFill>
                <a:latin typeface="Microsoft YaHei"/>
                <a:ea typeface="Microsoft YaHei"/>
              </a:rPr>
              <a:t>沟通协作 = 影响力能力，靠专业、靠谱、让人愿意跟你干。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2900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D6CDF"/>
                </a:solidFill>
                <a:latin typeface="Microsoft YaHei"/>
                <a:ea typeface="Microsoft YaHei"/>
              </a:rPr>
              <a:t>关键术语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94760"/>
            <a:ext cx="50749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•  无授权领导：不靠职位权力，靠专业话语权 + 影响力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•  矩阵型组织：职能 + 项目双线融合，可能有双头领导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•  接口人：团队间单一对接人，过滤噪音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•  管理靠权力，领导靠魅力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•  猎人 vs 农民：猎人管事盯结果，农民管人耕过程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06440" y="1691640"/>
            <a:ext cx="5806440" cy="4343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思维导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608" y="2152920"/>
            <a:ext cx="5404103" cy="342083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48640" y="6071616"/>
            <a:ext cx="11091672" cy="402336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6071616"/>
            <a:ext cx="14630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D6CDF"/>
                </a:solidFill>
                <a:latin typeface="Microsoft YaHei"/>
                <a:ea typeface="Microsoft YaHei"/>
              </a:rPr>
              <a:t>改造点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6071616"/>
            <a:ext cx="94183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2937"/>
                </a:solidFill>
                <a:latin typeface="Microsoft YaHei"/>
                <a:ea typeface="Microsoft YaHei"/>
              </a:rPr>
              <a:t>AI 沟通：对技术讲业务目标与验收口径，对高管讲单位经济，对销售讲使用边界与兜底，对合规讲风险前置。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528816"/>
            <a:ext cx="11091672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83680"/>
            <a:ext cx="8686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产品经理就业知识体系 · AI 增补版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0" y="6583680"/>
            <a:ext cx="16733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777240" cy="777240"/>
          </a:xfrm>
          <a:prstGeom prst="roundRect">
            <a:avLst>
              <a:gd name="adj" fmla="val 8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530352"/>
            <a:ext cx="7772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F2937"/>
                </a:solidFill>
                <a:latin typeface="Microsoft YaHei"/>
                <a:ea typeface="Microsoft YaHei"/>
              </a:rPr>
              <a:t>学习与自我修养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92640" y="685800"/>
            <a:ext cx="1947672" cy="45720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0" y="777240"/>
            <a:ext cx="19476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D6CDF"/>
                </a:solidFill>
                <a:latin typeface="Microsoft YaHei"/>
                <a:ea typeface="Microsoft YaHei"/>
              </a:rPr>
              <a:t>侧重点 · 底色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11091672" cy="27432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D6CDF"/>
                </a:solidFill>
                <a:latin typeface="Microsoft YaHei"/>
                <a:ea typeface="Microsoft YaHei"/>
              </a:rPr>
              <a:t>一句话归纳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57400"/>
            <a:ext cx="50292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F2937"/>
                </a:solidFill>
                <a:latin typeface="Microsoft YaHei"/>
                <a:ea typeface="Microsoft YaHei"/>
              </a:rPr>
              <a:t>自我修养 = 底色能力，技能可以速成，底色决定天花板。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2900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D6CDF"/>
                </a:solidFill>
                <a:latin typeface="Microsoft YaHei"/>
                <a:ea typeface="Microsoft YaHei"/>
              </a:rPr>
              <a:t>关键术语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94760"/>
            <a:ext cx="50749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•  自我修养四件套：爱生活 / 有理想 / 会思考 / 能沟通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•  解决问题通用思路：万能提问模板，任何问题都能套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•  少做就是多做：用 100% 质量做 75% 数量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•  生态隐喻：云雨 → 河流 → 动植物 → 阳光 → 大地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•  产品经理主义：把产品思维抽象成可普适的做事方法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06440" y="1691640"/>
            <a:ext cx="5806440" cy="4343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思维导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608" y="2283893"/>
            <a:ext cx="5404103" cy="3158893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48640" y="6071616"/>
            <a:ext cx="11091672" cy="402336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6071616"/>
            <a:ext cx="14630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D6CDF"/>
                </a:solidFill>
                <a:latin typeface="Microsoft YaHei"/>
                <a:ea typeface="Microsoft YaHei"/>
              </a:rPr>
              <a:t>改造点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6071616"/>
            <a:ext cx="94183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2937"/>
                </a:solidFill>
                <a:latin typeface="Microsoft YaHei"/>
                <a:ea typeface="Microsoft YaHei"/>
              </a:rPr>
              <a:t>持续追踪 AI 进展：跟模型发布节奏走、订阅信源、动手做小实验——「上个月做不到的，这周可能就能做了」。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528816"/>
            <a:ext cx="11091672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83680"/>
            <a:ext cx="8686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产品经理就业知识体系 · AI 增补版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0" y="6583680"/>
            <a:ext cx="16733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777240" cy="777240"/>
          </a:xfrm>
          <a:prstGeom prst="roundRect">
            <a:avLst>
              <a:gd name="adj" fmla="val 8000"/>
            </a:avLst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530352"/>
            <a:ext cx="7772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F2937"/>
                </a:solidFill>
                <a:latin typeface="Microsoft YaHei"/>
                <a:ea typeface="Microsoft YaHei"/>
              </a:rPr>
              <a:t>AI 技术认知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92640" y="685800"/>
            <a:ext cx="1947672" cy="457200"/>
          </a:xfrm>
          <a:prstGeom prst="roundRect">
            <a:avLst>
              <a:gd name="adj" fmla="val 8000"/>
            </a:avLst>
          </a:prstGeom>
          <a:solidFill>
            <a:srgbClr val="E0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0" y="777240"/>
            <a:ext cx="19476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FA3A3"/>
                </a:solidFill>
                <a:latin typeface="Microsoft YaHei"/>
                <a:ea typeface="Microsoft YaHei"/>
              </a:rPr>
              <a:t>侧重点 · 判断能不能做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11091672" cy="27432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A3A3"/>
                </a:solidFill>
                <a:latin typeface="Microsoft YaHei"/>
                <a:ea typeface="Microsoft YaHei"/>
              </a:rPr>
              <a:t>一句话归纳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57400"/>
            <a:ext cx="50292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F2937"/>
                </a:solidFill>
                <a:latin typeface="Microsoft YaHei"/>
                <a:ea typeface="Microsoft YaHei"/>
              </a:rPr>
              <a:t>AI 技术认知 = 判断能力，把「我有个 AI 想法」变成「技术上成立、边界在哪」。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2900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A3A3"/>
                </a:solidFill>
                <a:latin typeface="Microsoft YaHei"/>
                <a:ea typeface="Microsoft YaHei"/>
              </a:rPr>
              <a:t>关键术语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94760"/>
            <a:ext cx="50749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•  模型类型与能力边界：边界内做深做透，边界外别硬做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•  大模型基础：Transformer / 预训练 / 微调 / Prompt 工程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•  RAG：先检索再生成，把「背题」变「开卷考试」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•  Agent / MCP / 工具调用：模型自主规划并调用工具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•  幻觉：一本正经地编造，无法根除，只能缓解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06440" y="1691640"/>
            <a:ext cx="5806440" cy="4343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思维导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608" y="2390997"/>
            <a:ext cx="5404103" cy="2944685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48640" y="6071616"/>
            <a:ext cx="11091672" cy="402336"/>
          </a:xfrm>
          <a:prstGeom prst="roundRect">
            <a:avLst>
              <a:gd name="adj" fmla="val 8000"/>
            </a:avLst>
          </a:prstGeom>
          <a:solidFill>
            <a:srgbClr val="E0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6071616"/>
            <a:ext cx="14630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A3A3"/>
                </a:solidFill>
                <a:latin typeface="Microsoft YaHei"/>
                <a:ea typeface="Microsoft YaHei"/>
              </a:rPr>
              <a:t>面试怎么考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6071616"/>
            <a:ext cx="94183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2937"/>
                </a:solidFill>
                <a:latin typeface="Microsoft YaHei"/>
                <a:ea typeface="Microsoft YaHei"/>
              </a:rPr>
              <a:t>给一个 AI 产品 idea 问「能不能做」→ 翻译成模型任务 → 对能力边界 → 判断可行性 + 列风险点（幻觉 / 延迟 / 成本）。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528816"/>
            <a:ext cx="11091672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83680"/>
            <a:ext cx="8686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产品经理就业知识体系 · AI 增补版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0" y="6583680"/>
            <a:ext cx="16733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777240" cy="777240"/>
          </a:xfrm>
          <a:prstGeom prst="roundRect">
            <a:avLst>
              <a:gd name="adj" fmla="val 8000"/>
            </a:avLst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530352"/>
            <a:ext cx="7772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F2937"/>
                </a:solidFill>
                <a:latin typeface="Microsoft YaHei"/>
                <a:ea typeface="Microsoft YaHei"/>
              </a:rPr>
              <a:t>模型评估与数据闭环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92640" y="685800"/>
            <a:ext cx="1947672" cy="457200"/>
          </a:xfrm>
          <a:prstGeom prst="roundRect">
            <a:avLst>
              <a:gd name="adj" fmla="val 8000"/>
            </a:avLst>
          </a:prstGeom>
          <a:solidFill>
            <a:srgbClr val="E0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0" y="777240"/>
            <a:ext cx="19476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FA3A3"/>
                </a:solidFill>
                <a:latin typeface="Microsoft YaHei"/>
                <a:ea typeface="Microsoft YaHei"/>
              </a:rPr>
              <a:t>侧重点 · 验证做得好不好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11091672" cy="27432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A3A3"/>
                </a:solidFill>
                <a:latin typeface="Microsoft YaHei"/>
                <a:ea typeface="Microsoft YaHei"/>
              </a:rPr>
              <a:t>一句话归纳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57400"/>
            <a:ext cx="50292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F2937"/>
                </a:solidFill>
                <a:latin typeface="Microsoft YaHei"/>
                <a:ea typeface="Microsoft YaHei"/>
              </a:rPr>
              <a:t>模型评估与数据闭环 = 验证能力，从「感觉还行」到「有数字证明」。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2900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A3A3"/>
                </a:solidFill>
                <a:latin typeface="Microsoft YaHei"/>
                <a:ea typeface="Microsoft YaHei"/>
              </a:rPr>
              <a:t>关键术语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94760"/>
            <a:ext cx="50749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•  评估集 / 金标准集：人工标注的标准答案，不参与训练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•  离线指标：准确率 / 召回率 / F1，评估集上跑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•  在线指标：采纳率 / 任务完成率 / 人工接管率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•  数据闭环：采集 → 清洗 → 标注 → 评估 → 迭代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•  价值归因：判断指标变化是模型还是别的因素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06440" y="1691640"/>
            <a:ext cx="5806440" cy="4343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思维导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608" y="2537384"/>
            <a:ext cx="5404103" cy="265191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48640" y="6071616"/>
            <a:ext cx="11091672" cy="402336"/>
          </a:xfrm>
          <a:prstGeom prst="roundRect">
            <a:avLst>
              <a:gd name="adj" fmla="val 8000"/>
            </a:avLst>
          </a:prstGeom>
          <a:solidFill>
            <a:srgbClr val="E0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6071616"/>
            <a:ext cx="14630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A3A3"/>
                </a:solidFill>
                <a:latin typeface="Microsoft YaHei"/>
                <a:ea typeface="Microsoft YaHei"/>
              </a:rPr>
              <a:t>面试怎么考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6071616"/>
            <a:ext cx="94183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2937"/>
                </a:solidFill>
                <a:latin typeface="Microsoft YaHei"/>
                <a:ea typeface="Microsoft YaHei"/>
              </a:rPr>
              <a:t>问「AI 功能怎么验收」→ 先定评估集和离线指标 → 上线看在线指标 → 数据闭环迭代 → 归因到模型。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528816"/>
            <a:ext cx="11091672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83680"/>
            <a:ext cx="8686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产品经理就业知识体系 · AI 增补版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0" y="6583680"/>
            <a:ext cx="16733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777240" cy="777240"/>
          </a:xfrm>
          <a:prstGeom prst="roundRect">
            <a:avLst>
              <a:gd name="adj" fmla="val 8000"/>
            </a:avLst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530352"/>
            <a:ext cx="7772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F2937"/>
                </a:solidFill>
                <a:latin typeface="Microsoft YaHei"/>
                <a:ea typeface="Microsoft YaHei"/>
              </a:rPr>
              <a:t>信任安全与伦理合规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92640" y="685800"/>
            <a:ext cx="1947672" cy="457200"/>
          </a:xfrm>
          <a:prstGeom prst="roundRect">
            <a:avLst>
              <a:gd name="adj" fmla="val 8000"/>
            </a:avLst>
          </a:prstGeom>
          <a:solidFill>
            <a:srgbClr val="E0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0" y="777240"/>
            <a:ext cx="19476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FA3A3"/>
                </a:solidFill>
                <a:latin typeface="Microsoft YaHei"/>
                <a:ea typeface="Microsoft YaHei"/>
              </a:rPr>
              <a:t>侧重点 · 守住底线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11091672" cy="27432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A3A3"/>
                </a:solidFill>
                <a:latin typeface="Microsoft YaHei"/>
                <a:ea typeface="Microsoft YaHei"/>
              </a:rPr>
              <a:t>一句话归纳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57400"/>
            <a:ext cx="50292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F2937"/>
                </a:solidFill>
                <a:latin typeface="Microsoft YaHei"/>
                <a:ea typeface="Microsoft YaHei"/>
              </a:rPr>
              <a:t>信任安全与伦理合规 = 底线能力，先想清楚怎么不闯祸，再谈功能多强。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2900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A3A3"/>
                </a:solidFill>
                <a:latin typeface="Microsoft YaHei"/>
                <a:ea typeface="Microsoft YaHei"/>
              </a:rPr>
              <a:t>关键术语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94760"/>
            <a:ext cx="50749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•  公平性：对不同人群的表现不能有明显偏差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•  可解释性：为什么给这个结果，能说清楚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•  隐私保护：最小化采集 / 脱敏 / 授权 / 合规前置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•  内容安全：前置过滤 + 后置拦截 + 人工巡查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•  Red Teaming + 发布门槛：主动找漏洞，不过关不发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06440" y="1691640"/>
            <a:ext cx="5806440" cy="4343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思维导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608" y="2495565"/>
            <a:ext cx="5404103" cy="273554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48640" y="6071616"/>
            <a:ext cx="11091672" cy="402336"/>
          </a:xfrm>
          <a:prstGeom prst="roundRect">
            <a:avLst>
              <a:gd name="adj" fmla="val 8000"/>
            </a:avLst>
          </a:prstGeom>
          <a:solidFill>
            <a:srgbClr val="E0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6071616"/>
            <a:ext cx="14630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A3A3"/>
                </a:solidFill>
                <a:latin typeface="Microsoft YaHei"/>
                <a:ea typeface="Microsoft YaHei"/>
              </a:rPr>
              <a:t>面试怎么考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6071616"/>
            <a:ext cx="94183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2937"/>
                </a:solidFill>
                <a:latin typeface="Microsoft YaHei"/>
                <a:ea typeface="Microsoft YaHei"/>
              </a:rPr>
              <a:t>问「AI 上线前怎么把关」→ 红队 + 安全检查 + 兜底 + 发布门槛 + 分层发布。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528816"/>
            <a:ext cx="11091672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83680"/>
            <a:ext cx="8686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产品经理就业知识体系 · AI 增补版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0" y="6583680"/>
            <a:ext cx="16733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777240" cy="777240"/>
          </a:xfrm>
          <a:prstGeom prst="roundRect">
            <a:avLst>
              <a:gd name="adj" fmla="val 8000"/>
            </a:avLst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530352"/>
            <a:ext cx="7772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F2937"/>
                </a:solidFill>
                <a:latin typeface="Microsoft YaHei"/>
                <a:ea typeface="Microsoft YaHei"/>
              </a:rPr>
              <a:t>AI 产品经济学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92640" y="685800"/>
            <a:ext cx="1947672" cy="457200"/>
          </a:xfrm>
          <a:prstGeom prst="roundRect">
            <a:avLst>
              <a:gd name="adj" fmla="val 8000"/>
            </a:avLst>
          </a:prstGeom>
          <a:solidFill>
            <a:srgbClr val="E0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0" y="777240"/>
            <a:ext cx="19476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FA3A3"/>
                </a:solidFill>
                <a:latin typeface="Microsoft YaHei"/>
                <a:ea typeface="Microsoft YaHei"/>
              </a:rPr>
              <a:t>侧重点 · 算清值不值 / 赚不赚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11091672" cy="27432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A3A3"/>
                </a:solidFill>
                <a:latin typeface="Microsoft YaHei"/>
                <a:ea typeface="Microsoft YaHei"/>
              </a:rPr>
              <a:t>一句话归纳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57400"/>
            <a:ext cx="50292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F2937"/>
                </a:solidFill>
                <a:latin typeface="Microsoft YaHei"/>
                <a:ea typeface="Microsoft YaHei"/>
              </a:rPr>
              <a:t>AI 产品经济学 = 算账能力，从「觉得有用」到「算得清赚不赚钱」。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2900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A3A3"/>
                </a:solidFill>
                <a:latin typeface="Microsoft YaHei"/>
                <a:ea typeface="Microsoft YaHei"/>
              </a:rPr>
              <a:t>关键术语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94760"/>
            <a:ext cx="50749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•  Token / 推理成本：每次请求都产生真实成本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•  单位经济模型：收入 − 成本，LTV &gt; CAC + 累计推理成本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•  定价建模：成本打底 + 价值锚定 + 版本分层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•  模型选型权衡：成本 / 延迟 / 精度 / 上下文四维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•  数据飞轮与防御性：越用数据越多 → 模型越好 → 用户越多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06440" y="1691640"/>
            <a:ext cx="5806440" cy="4343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思维导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608" y="2593734"/>
            <a:ext cx="5404103" cy="2539211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48640" y="6071616"/>
            <a:ext cx="11091672" cy="402336"/>
          </a:xfrm>
          <a:prstGeom prst="roundRect">
            <a:avLst>
              <a:gd name="adj" fmla="val 8000"/>
            </a:avLst>
          </a:prstGeom>
          <a:solidFill>
            <a:srgbClr val="E0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6071616"/>
            <a:ext cx="14630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A3A3"/>
                </a:solidFill>
                <a:latin typeface="Microsoft YaHei"/>
                <a:ea typeface="Microsoft YaHei"/>
              </a:rPr>
              <a:t>面试怎么考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6071616"/>
            <a:ext cx="94183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2937"/>
                </a:solidFill>
                <a:latin typeface="Microsoft YaHei"/>
                <a:ea typeface="Microsoft YaHei"/>
              </a:rPr>
              <a:t>问「这个 AI 功能值不值得做」→ 单位经济 + 成本结构 + 飞轮潜力，三件套。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528816"/>
            <a:ext cx="11091672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83680"/>
            <a:ext cx="8686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产品经理就业知识体系 · AI 增补版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0" y="6583680"/>
            <a:ext cx="16733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2937"/>
                </a:solidFill>
                <a:latin typeface="Microsoft YaHei"/>
                <a:ea typeface="Microsoft YaHei"/>
              </a:rPr>
              <a:t>附录：自评 · 快答 · 路线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1091672" cy="2743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356616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3566160" cy="6400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09928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FA3A3"/>
                </a:solidFill>
                <a:latin typeface="Microsoft YaHei"/>
                <a:ea typeface="Microsoft YaHe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709928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能力自评清单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1089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</a:rPr>
              <a:t>11 个板块各一栏自评（1–5 分）+ 补强动作，用于定期查漏。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06824" y="1600200"/>
            <a:ext cx="356616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06824" y="1600200"/>
            <a:ext cx="3566160" cy="6400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5424" y="1709928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FA3A3"/>
                </a:solidFill>
                <a:latin typeface="Microsoft YaHei"/>
                <a:ea typeface="Microsoft YaHe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38344" y="1709928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面试高频问题快答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2468880"/>
            <a:ext cx="31089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</a:rPr>
              <a:t>通用底座 10 问（产品是什么 / 需求怎么排 / BRD-PRD 区别 / 项目延期 / 无职权推动…）+ AI 增补层 6 问（能不能做 / 准不准 / 答错怎么办 / 怎么定价 / 护城河 / 上线把关）。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65008" y="1600200"/>
            <a:ext cx="356616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5008" y="1600200"/>
            <a:ext cx="3566160" cy="6400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1709928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FA3A3"/>
                </a:solidFill>
                <a:latin typeface="Microsoft YaHei"/>
                <a:ea typeface="Microsoft YaHei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96528" y="1709928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优化路线（React 化）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468880"/>
            <a:ext cx="31089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</a:rPr>
              <a:t>V0 想法定稿 → V1 内容数字化 → V2 React 应用 → V3 背得下来（记忆卡片 / 自测）→ V4 持续优化闭环。把知识体系当产品运营，issues 就是用户反馈。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6528816"/>
            <a:ext cx="11091672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583680"/>
            <a:ext cx="8686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产品经理就业知识体系 · AI 增补版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6583680"/>
            <a:ext cx="16733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Microsoft YaHei"/>
                <a:ea typeface="Microsoft YaHei"/>
              </a:rPr>
              <a:t>谢谢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661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BFD0E8"/>
                </a:solidFill>
                <a:latin typeface="Microsoft YaHei"/>
                <a:ea typeface="Microsoft YaHei"/>
              </a:rPr>
              <a:t>先把骨架搭起来，往里塞就是了。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28816"/>
            <a:ext cx="11091672" cy="10972"/>
          </a:xfrm>
          <a:prstGeom prst="rect">
            <a:avLst/>
          </a:prstGeom>
          <a:solidFill>
            <a:srgbClr val="3A4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83680"/>
            <a:ext cx="8686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FD0E8"/>
                </a:solidFill>
                <a:latin typeface="Microsoft YaHei"/>
                <a:ea typeface="Microsoft YaHei"/>
              </a:rPr>
              <a:t>产品经理就业知识体系 · AI 增补版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6583680"/>
            <a:ext cx="16733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BFD0E8"/>
                </a:solidFill>
                <a:latin typeface="Microsoft YaHei"/>
                <a:ea typeface="Microsoft YaHei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