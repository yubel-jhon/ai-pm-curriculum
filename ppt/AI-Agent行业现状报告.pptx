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463040" cy="54864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BFD0E8"/>
                </a:solidFill>
                <a:latin typeface="Microsoft YaHei"/>
                <a:ea typeface="Microsoft YaHei"/>
              </a:rPr>
              <a:t>从「能不能做」到「算不算得过账」—— 用产品视角看清 Agent 走到哪、卡在哪、往哪走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EA3C4"/>
                </a:solidFill>
                <a:latin typeface="Microsoft YaHei"/>
                <a:ea typeface="Microsoft YaHei"/>
              </a:rPr>
              <a:t>目标读者：AI 产品经理 · 技术 / 商业决策者　|　2026-08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70432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92224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92224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技术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14016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14016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市场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35808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应用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5806440"/>
            <a:ext cx="603504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5806440"/>
            <a:ext cx="6035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商业化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安全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挑战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50992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50992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趋势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2783" y="5806440"/>
            <a:ext cx="475488" cy="457200"/>
          </a:xfrm>
          <a:prstGeom prst="roundRect">
            <a:avLst>
              <a:gd name="adj" fmla="val 8000"/>
            </a:avLst>
          </a:prstGeom>
          <a:solidFill>
            <a:srgbClr val="2A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2783" y="5806440"/>
            <a:ext cx="475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FDDF0"/>
                </a:solidFill>
                <a:latin typeface="Microsoft YaHei"/>
                <a:ea typeface="Microsoft YaHei"/>
              </a:rPr>
              <a:t>建议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A3A3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2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4813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A3A3"/>
                </a:solidFill>
                <a:latin typeface="Microsoft YaHei"/>
                <a:ea typeface="Microsoft YaHei"/>
              </a:rPr>
              <a:t>核心结论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8288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</a:rPr>
              <a:t>Agent 已从「能不能做」的论证期进入「做得好不好、算不算得过账」的验证期；技术能撑起单点场景，但可靠性、单位经济、责任归属三道坎，让它还卡在「单点工具」而非「可托付的自主劳动力」。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060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关键判断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71800"/>
            <a:ext cx="56692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瓶颈从「模型不够聪明」转向「不够可靠、可控、便宜」。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市场「框架热、应用冷」：能收上钱的仍是客服 / 代码 / 办公。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竞争从「模型之争」转向「工具 + 数据闭环之争」。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商业化「按调用付费」为主，多数通用场景单位经济未打正。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安全合规是「发布门槛」，责任不清是 B 端采购最大隐性阻力。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关键数据快照（多为估计）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297180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8229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量级判断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可信度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全球市场规模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数十亿–百亿美元级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待核实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多步任务成功率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复杂任务多数 &lt; 50%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待核实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单次调用成本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普通 LLM 的数倍–数十倍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待核实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头部模型推理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通过多数「慢思考」基准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共识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MCP 生态采纳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 起成事实工具标准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共识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定义与边界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D6CDF"/>
                </a:solidFill>
                <a:latin typeface="Microsoft YaHei"/>
                <a:ea typeface="Microsoft YaHei"/>
              </a:rPr>
              <a:t>在讨论什么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3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4813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D6CDF"/>
                </a:solidFill>
                <a:latin typeface="Microsoft YaHei"/>
                <a:ea typeface="Microsoft YaHei"/>
              </a:rPr>
              <a:t>Agent 定义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810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规划 Planning ＋ 工具调用 Tool Use ＋ 记忆 Memory ＋ 自主执行 Autonomy —— 不再只是「回答问题」，而是拆解任务、调用工具、循环完成目标。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与相邻形态的递进关系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2670048"/>
          <a:ext cx="722376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377440"/>
                <a:gridCol w="1554480"/>
                <a:gridCol w="17373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形态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核心特征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自主程度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与 Agent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Chatbot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只输出文本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交互底座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Copilot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人主导、AI 辅助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前置形态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RPA / 工作流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规则固定、确定流程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中（无理解）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互补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Agent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自主规划 + 工具 + 循环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高（受约束）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收敛点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00800" y="22860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Agent 分层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670048"/>
            <a:ext cx="521208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77977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6CDF"/>
                </a:solidFill>
                <a:latin typeface="Microsoft YaHei"/>
                <a:ea typeface="Microsoft YaHei"/>
              </a:rPr>
              <a:t>单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779776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一个模型 + 一组工具，自主循环完成单目标。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584448"/>
            <a:ext cx="521208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9417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6CDF"/>
                </a:solidFill>
                <a:latin typeface="Microsoft YaHei"/>
                <a:ea typeface="Microsoft YaHei"/>
              </a:rPr>
              <a:t>多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3694176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多个各司其职的 Agent 协作（编排者 + 执行者）。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498848"/>
            <a:ext cx="521208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60857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6CDF"/>
                </a:solidFill>
                <a:latin typeface="Microsoft YaHei"/>
                <a:ea typeface="Microsoft YaHei"/>
              </a:rPr>
              <a:t>Agentic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608576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把「规划—执行—反思」固化成可复用流程。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判断：四者非替代，是「自主程度 × 任务确定性」连续谱上的落点；Agent 专攻 RPA 覆盖不了的非确定任务，二者互补而非竞争。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技术现状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A3A3"/>
                </a:solidFill>
                <a:latin typeface="Microsoft YaHei"/>
                <a:ea typeface="Microsoft YaHei"/>
              </a:rPr>
              <a:t>能不能做 · 透镜⑧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4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底层模型的三类支撑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5564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186537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A3A3"/>
                </a:solidFill>
                <a:latin typeface="Microsoft YaHei"/>
                <a:ea typeface="Microsoft YaHei"/>
              </a:rPr>
              <a:t>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12848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「慢思考」路线抬高多步规划与自我修正的天花板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175564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3" y="186537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A3A3"/>
                </a:solidFill>
                <a:latin typeface="Microsoft YaHei"/>
                <a:ea typeface="Microsoft YaHei"/>
              </a:rPr>
              <a:t>长上下文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3" y="2212848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百万级 Token 让记忆 + 任务状态多跑几步不丢线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175564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86537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A3A3"/>
                </a:solidFill>
                <a:latin typeface="Microsoft YaHei"/>
                <a:ea typeface="Microsoft YaHei"/>
              </a:rPr>
              <a:t>多模态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212848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「看界面、点按钮」，工具调用边界从 API 扩到 GUI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8529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核心能力现状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3236976"/>
          <a:ext cx="521208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成熟度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规划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简单可用，长程易走偏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工具调用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MCP 标准化后改善，参数仍错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中高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短期成熟，长期不成熟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中低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反思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推理模型带来进步，不保证收敛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00800" y="28529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技术瓶颈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236976"/>
            <a:ext cx="5212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幻觉：无法根除，执行类场景代价被急剧放大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多步成功率：步骤越多，错误率累积、成功率骤降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上下文与延迟：窗口大 ≠ 什么都塞，决定交互形态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可靠 vs 自主：越自主越不可控，越可控越退化成工作流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判断：单点、封闭、可验证场景「能」；能否规模化取决于评测体系（透镜⑨）能否把「成功率」变成可管理的指标。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市场与格局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D6CDF"/>
                </a:solidFill>
                <a:latin typeface="Microsoft YaHei"/>
                <a:ea typeface="Microsoft YaHei"/>
              </a:rPr>
              <a:t>谁在做 · 做到哪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5 / 12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371600"/>
          <a:ext cx="9052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  <a:gridCol w="2377440"/>
                <a:gridCol w="23774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生态层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代表玩家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做什么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商业化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模型厂商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 / Anthropic / Google ＋ DeepSeek / 智谱 / 通义 / 豆包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底层推理 + 原生 Agent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 / 订阅已规模变现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框架 / 中间件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LangChain / CrewAI / AutoGen / Dify / Coze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编排、工具、多智能体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开源 / 早期，多数引流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 / 低代码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Copilot Studio / Coze / 千帆 / n8n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非开发者搭建分发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 / 按量，早期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垂直应用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客服 / 代码 / 办公 / 营销 / 金融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封装成可交付产品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分化大，少数赚钱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格局判断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5669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模型厂商是当前唯一确定赚到钱的一层。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框架层供给过剩、同质化，价值向「模型 + 数据」两端挤压。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▸  协议标准化（MCP / A2A）把「工具调用」变商品，削弱框架差异化。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0624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3708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A3A3"/>
                </a:solidFill>
                <a:latin typeface="Microsoft YaHei"/>
                <a:ea typeface="Microsoft YaHei"/>
              </a:rPr>
              <a:t>规模判断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7548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AI Agent 是被普遍看好、但口径混乱的赛道：预测差异极大，短期落地收入远小于预测值。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结论：市场在「叙事规模」上很大，在「可确认付费收入」上还小。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应用落地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A3A3"/>
                </a:solidFill>
                <a:latin typeface="Microsoft YaHei"/>
                <a:ea typeface="Microsoft YaHei"/>
              </a:rPr>
              <a:t>做得好不好 · 透镜⑨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6 / 12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371600"/>
          <a:ext cx="8778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651760"/>
                <a:gridCol w="2651760"/>
                <a:gridCol w="23774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场景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落地形态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为何跑通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验证方式</a:t>
                      </a:r>
                    </a:p>
                  </a:txBody>
                  <a:tcPr anchor="ctr" marL="73152" marR="73152" marT="18288" marB="18288">
                    <a:solidFill>
                      <a:srgbClr val="0FA3A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Claude Code / Copilot / 通义灵码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结果可编译、可测试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通过率 + 采纳率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客服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智能客服 / 工单 Agent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任务封闭、容错低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解决率 + 接管率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办公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邮件 / 文档 / RPA+LLM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流程相对确定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任务完成率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营销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素材生成 / 投放优化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ROI 可归因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 / ROI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金融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尽调 / 报告 / 风控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数据密集、可审计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准确率 + 复核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仍未跑通的场景（核心：评不出好）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26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63600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03A2B"/>
                </a:solidFill>
                <a:latin typeface="Microsoft YaHei"/>
                <a:ea typeface="Microsoft YaHei"/>
              </a:rPr>
              <a:t>长程自主任务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规划易散、成功率低、责任不清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4526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1416" y="463600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03A2B"/>
                </a:solidFill>
                <a:latin typeface="Microsoft YaHei"/>
                <a:ea typeface="Microsoft YaHei"/>
              </a:rPr>
              <a:t>高风险决策 / 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498348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容错成本高，不敢放手给自主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452628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463600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03A2B"/>
                </a:solidFill>
                <a:latin typeface="Microsoft YaHei"/>
                <a:ea typeface="Microsoft YaHei"/>
              </a:rPr>
              <a:t>长记忆 / 跨系统状态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1" y="498348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记忆层不成熟，状态丢失频繁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69280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判断：落地好坏的分水岭不是「有没有 AI 价值」，而是「能不能建评估集 + 在线指标 + 数据闭环」——评测能力决定落地的顺序。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商业化与经济性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D6CDF"/>
                </a:solidFill>
                <a:latin typeface="Microsoft YaHei"/>
                <a:ea typeface="Microsoft YaHei"/>
              </a:rPr>
              <a:t>值不值赚不赚 · 透镜⑪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7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43560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D6CDF"/>
                </a:solidFill>
                <a:latin typeface="Microsoft YaHei"/>
                <a:ea typeface="Microsoft YaHei"/>
              </a:rPr>
              <a:t>成本结构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76479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一次 Agent 任务 = 规划 + 多轮工具调用 + 反思，Token 消耗是单次回答的数倍–数十倍，且可能失败重试——每次调用都是真实且叠加的成本。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单位经济模型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2578608"/>
          <a:ext cx="621792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21031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环节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判断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推理成本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持续降但仍是大头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被多步放大抵消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定价建模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按量订阅为主，按结果探索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成本+价值+分层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付费意愿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 端愿付，C 端只要结果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分化大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数据飞轮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少数闭环有，多数没有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真正的护城河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0" y="2578608"/>
            <a:ext cx="5212080" cy="28346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43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A3A3"/>
                </a:solidFill>
                <a:latin typeface="Microsoft YaHei"/>
                <a:ea typeface="Microsoft YaHei"/>
              </a:rPr>
              <a:t>核心矛盾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54680"/>
            <a:ext cx="47548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价值越高（越自主）→ 单次成本越高 → 越难定价 → 越难算清账。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BFD0E8"/>
                </a:solidFill>
                <a:latin typeface="Microsoft YaHei"/>
                <a:ea typeface="Microsoft YaHei"/>
              </a:rPr>
              <a:t>通用场景普遍算不过账；只有「高频、可量化、容错低」的场景单位经济才能打正。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0FA3A3"/>
                </a:solidFill>
                <a:latin typeface="Microsoft YaHei"/>
                <a:ea typeface="Microsoft YaHei"/>
              </a:rPr>
              <a:t>→ 选场景即选商业模式，第一性动作是「算账」而非「堆能力」。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23560"/>
            <a:ext cx="11091672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定价公式（术语 68）：成本打底 + 价值锚定 + 版本分层；护城河来自数据飞轮（术语 70），不是算法本身。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信任、安全与合规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A3A3"/>
                </a:solidFill>
                <a:latin typeface="Microsoft YaHei"/>
                <a:ea typeface="Microsoft YaHei"/>
              </a:rPr>
              <a:t>守住底线 · 透镜⑩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8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8132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03A2B"/>
                </a:solidFill>
                <a:latin typeface="Microsoft YaHei"/>
                <a:ea typeface="Microsoft YaHei"/>
              </a:rPr>
              <a:t>越权 / 误操作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82880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Agent 拿着权限去执行，一次幻觉可能是一次真实损失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137160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48132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03A2B"/>
                </a:solidFill>
                <a:latin typeface="Microsoft YaHei"/>
                <a:ea typeface="Microsoft YaHei"/>
              </a:rPr>
              <a:t>提示注入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82880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工具输入面扩大，恶意内容可借网页 / 邮件诱导越权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37160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1" y="148132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03A2B"/>
                </a:solidFill>
                <a:latin typeface="Microsoft YaHei"/>
                <a:ea typeface="Microsoft YaHei"/>
              </a:rPr>
              <a:t>隐私泄露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1" y="182880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</a:rPr>
              <a:t>为执行读取更多上下文，数据采集面变大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60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可解释性与责任归属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44368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「为什么这么做」说不清（术语 61），事故就无法追责，也就无法批量上线。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B 端最头疼的问题：Agent 做错了，是模型商、平台方、集成商还是使用者的责任？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5603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合规与监管动向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94436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执行类、高风险类 Agent 会被逐步纳入「高风险系统」审查（可审计、可兜底、可问责）。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具体条款与时间线待核实，但方向明确。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66344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800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A3A3"/>
                </a:solidFill>
                <a:latin typeface="Microsoft YaHei"/>
                <a:ea typeface="Microsoft YaHei"/>
              </a:rPr>
              <a:t>发布门槛（术语 65）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193792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安全 + 兜底 + 指标 + 监控，不过关不发；红队 + 安全检查 + 分层发布。落到 Agent 上会从「最佳实践」变成「合规刚需」。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Agent 产品经理的第一职责：先想清楚怎么不闯祸，再谈功能多强。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关键挑战汇总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D6CDF"/>
                </a:solidFill>
                <a:latin typeface="Microsoft YaHei"/>
                <a:ea typeface="Microsoft YaHei"/>
              </a:rPr>
              <a:t>四类收敛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9 / 12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417320"/>
          <a:ext cx="1106424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017520"/>
                <a:gridCol w="704088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类别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挑战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一句话</a:t>
                      </a:r>
                    </a:p>
                  </a:txBody>
                  <a:tcPr anchor="ctr" marL="73152" marR="73152" marT="18288" marB="18288">
                    <a:solidFill>
                      <a:srgbClr val="2D6CD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技术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幻觉与可靠性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无法根除，执行类场景代价被放大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技术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多步任务成功率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步骤越多，端到端成功率越差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技术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长程记忆与状态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跨会话稳定状态不成熟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产品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评测与验收难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多数场景「评不出好」，落地无依据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产品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交互形态未定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高延迟 + 高自主，照搬 Chatbot 体验失效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商业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单位经济打不正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多步放大成本，通用场景算不过账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定价与付费意愿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按结果付费难落地，付费意愿分化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框架同质化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供给过剩，差异化消失</a:t>
                      </a:r>
                    </a:p>
                  </a:txBody>
                  <a:tcPr anchor="ctr" marL="73152" marR="73152" marT="18288" marB="18288">
                    <a:solidFill>
                      <a:srgbClr val="F0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责任归属不清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 端规模化采购的隐性阻力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趋势判断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A3A3"/>
                </a:solidFill>
                <a:latin typeface="Microsoft YaHei"/>
                <a:ea typeface="Microsoft YaHei"/>
              </a:rPr>
              <a:t>往哪走 · 12–24 个月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10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371600"/>
            <a:ext cx="5486400" cy="502920"/>
          </a:xfrm>
          <a:prstGeom prst="roundRect">
            <a:avLst>
              <a:gd name="adj" fmla="val 8000"/>
            </a:avLst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高确定性趋势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11680"/>
            <a:ext cx="53035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推理成本持续下降，单位经济逐步改善（但多步吃掉红利）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工具调用标准化：MCP / A2A 成事实标准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Agent 深度嵌入垂直工作流，从助手走向交付结果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安全合规前置：可审计、可兜底、分层发布成标配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「慢思考 + 反思」成为 Agent 默认架构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7160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371600"/>
            <a:ext cx="5394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高分歧 / 不确定点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011680"/>
            <a:ext cx="52120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多智能体是否真的必要，还是单 Agent + 强工具已够用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是否出现「Agent 平台型超级应用」，入口归属未定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通用 Agent（「一个干所有事」）何时可托付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▸  按结果付费能否成为主流商业模式（取决于价值可归因）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</a:rPr>
              <a:t>结论与建议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530352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E0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5303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D6CDF"/>
                </a:solidFill>
                <a:latin typeface="Microsoft YaHei"/>
                <a:ea typeface="Microsoft YaHei"/>
              </a:rPr>
              <a:t>带走什么行动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07008"/>
            <a:ext cx="11091672" cy="2743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11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4813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A3A3"/>
                </a:solidFill>
                <a:latin typeface="Microsoft YaHei"/>
                <a:ea typeface="Microsoft YaHei"/>
              </a:rPr>
              <a:t>核心结论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82880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</a:rPr>
              <a:t>「能不能做」已基本有答案，真正的分水岭是「做得好不好」（评测与数据闭环）和「算不算得过账」（单位经济）——谁先跑通，谁拿到先手。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651760"/>
            <a:ext cx="658368" cy="1051560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51760"/>
            <a:ext cx="65836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7797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</a:rPr>
              <a:t>用「评测」倒逼「落地」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200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先定义评估集和在线指标（采纳率 / 任务完成率 / 人工接管率），评不出的场景先不做（透镜⑨）。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58768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3858768"/>
            <a:ext cx="658368" cy="1051560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858768"/>
            <a:ext cx="65836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986783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</a:rPr>
              <a:t>把「单位经济」当第一过滤器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407407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优先「高频、可量化、容错低、有数据飞轮」的场景，别用堆能力掩盖算不过账（透镜⑪）。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65776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5065776"/>
            <a:ext cx="658368" cy="1051560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065776"/>
            <a:ext cx="65836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19379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2937"/>
                </a:solidFill>
                <a:latin typeface="Microsoft YaHei"/>
                <a:ea typeface="Microsoft YaHei"/>
              </a:rPr>
              <a:t>把安全与责任当「发布门槛」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61441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内建权限边界、兜底与可审计机制，红队 + 分层发布守住底线，从演示推向生产（透镜⑩）。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BFD0E8"/>
                </a:solidFill>
                <a:latin typeface="Microsoft YaHei"/>
                <a:ea typeface="Microsoft YaHei"/>
              </a:rPr>
              <a:t>事实类数据如能提供最新一手来源，建议回填并替换「待核实 / 估计」标注。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1672" cy="10972"/>
          </a:xfrm>
          <a:prstGeom prst="rect">
            <a:avLst/>
          </a:prstGeom>
          <a:solidFill>
            <a:srgbClr val="3A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FD0E8"/>
                </a:solidFill>
                <a:latin typeface="Microsoft YaHei"/>
                <a:ea typeface="Microsoft YaHei"/>
              </a:rPr>
              <a:t>AI Agent 行业现状报告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583680"/>
            <a:ext cx="1673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BFD0E8"/>
                </a:solidFill>
                <a:latin typeface="Microsoft YaHei"/>
                <a:ea typeface="Microsoft Ya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