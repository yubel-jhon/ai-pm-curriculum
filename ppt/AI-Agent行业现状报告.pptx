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640080"/>
            <a:ext cx="2194560" cy="457200"/>
          </a:xfrm>
          <a:prstGeom prst="roundRect">
            <a:avLst>
              <a:gd name="adj" fmla="val 8000"/>
            </a:avLst>
          </a:prstGeom>
          <a:solidFill>
            <a:srgbClr val="2A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CFDDF0"/>
                </a:solidFill>
                <a:latin typeface="Microsoft YaHei"/>
                <a:ea typeface="Microsoft YaHei"/>
              </a:rPr>
              <a:t>行业深度研究报告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640080"/>
            <a:ext cx="1463040" cy="457200"/>
          </a:xfrm>
          <a:prstGeom prst="roundRect">
            <a:avLst>
              <a:gd name="adj" fmla="val 8000"/>
            </a:avLst>
          </a:prstGeom>
          <a:solidFill>
            <a:srgbClr val="2A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64008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8EF2E8"/>
                </a:solidFill>
                <a:latin typeface="Microsoft YaHei"/>
                <a:ea typeface="Microsoft YaHei"/>
              </a:rPr>
              <a:t>首次覆盖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463040" cy="54864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0972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</a:rPr>
              <a:t>AI Agent 行业现状报告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BFD0E8"/>
                </a:solidFill>
                <a:latin typeface="Microsoft YaHei"/>
                <a:ea typeface="Microsoft YaHei"/>
              </a:rPr>
              <a:t>从「能不能做」到「算不算得过账」—— Agent 进入「做得好不好、算不算得过来、出了事谁负责」的验证期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206240"/>
            <a:ext cx="2011680" cy="502920"/>
          </a:xfrm>
          <a:prstGeom prst="roundRect">
            <a:avLst>
              <a:gd name="adj" fmla="val 8000"/>
            </a:avLst>
          </a:prstGeom>
          <a:solidFill>
            <a:srgbClr val="2A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20624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CFDDF0"/>
                </a:solidFill>
                <a:latin typeface="Microsoft YaHei"/>
                <a:ea typeface="Microsoft YaHei"/>
              </a:rPr>
              <a:t>行业评级：看好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8EA3C4"/>
                </a:solidFill>
                <a:latin typeface="Microsoft YaHei"/>
                <a:ea typeface="Microsoft YaHei"/>
              </a:rPr>
              <a:t>整理：AI-PM-Curriculum 研究组　|　报告日期：2026-08-15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806440"/>
            <a:ext cx="457200" cy="420624"/>
          </a:xfrm>
          <a:prstGeom prst="roundRect">
            <a:avLst>
              <a:gd name="adj" fmla="val 8000"/>
            </a:avLst>
          </a:prstGeom>
          <a:solidFill>
            <a:srgbClr val="2A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806440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CFDDF0"/>
                </a:solidFill>
                <a:latin typeface="Microsoft YaHei"/>
                <a:ea typeface="Microsoft YaHei"/>
              </a:rPr>
              <a:t>摘要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33856" y="5806440"/>
            <a:ext cx="457200" cy="420624"/>
          </a:xfrm>
          <a:prstGeom prst="roundRect">
            <a:avLst>
              <a:gd name="adj" fmla="val 8000"/>
            </a:avLst>
          </a:prstGeom>
          <a:solidFill>
            <a:srgbClr val="2A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5806440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CFDDF0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19072" y="5806440"/>
            <a:ext cx="598932" cy="420624"/>
          </a:xfrm>
          <a:prstGeom prst="roundRect">
            <a:avLst>
              <a:gd name="adj" fmla="val 8000"/>
            </a:avLst>
          </a:prstGeom>
          <a:solidFill>
            <a:srgbClr val="2A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19072" y="5806440"/>
            <a:ext cx="59893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CFDDF0"/>
                </a:solidFill>
                <a:latin typeface="Microsoft YaHei"/>
                <a:ea typeface="Microsoft YaHei"/>
              </a:rPr>
              <a:t>产业链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46020" y="5806440"/>
            <a:ext cx="740664" cy="420624"/>
          </a:xfrm>
          <a:prstGeom prst="roundRect">
            <a:avLst>
              <a:gd name="adj" fmla="val 8000"/>
            </a:avLst>
          </a:prstGeom>
          <a:solidFill>
            <a:srgbClr val="2A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46020" y="5806440"/>
            <a:ext cx="7406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CFDDF0"/>
                </a:solidFill>
                <a:latin typeface="Microsoft YaHei"/>
                <a:ea typeface="Microsoft YaHei"/>
              </a:rPr>
              <a:t>市场规模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14700" y="5806440"/>
            <a:ext cx="740664" cy="420624"/>
          </a:xfrm>
          <a:prstGeom prst="roundRect">
            <a:avLst>
              <a:gd name="adj" fmla="val 8000"/>
            </a:avLst>
          </a:prstGeom>
          <a:solidFill>
            <a:srgbClr val="2A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14700" y="5806440"/>
            <a:ext cx="7406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CFDDF0"/>
                </a:solidFill>
                <a:latin typeface="Microsoft YaHei"/>
                <a:ea typeface="Microsoft YaHei"/>
              </a:rPr>
              <a:t>竞争格局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83380" y="5806440"/>
            <a:ext cx="740664" cy="420624"/>
          </a:xfrm>
          <a:prstGeom prst="roundRect">
            <a:avLst>
              <a:gd name="adj" fmla="val 8000"/>
            </a:avLst>
          </a:prstGeom>
          <a:solidFill>
            <a:srgbClr val="2A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83380" y="5806440"/>
            <a:ext cx="7406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CFDDF0"/>
                </a:solidFill>
                <a:latin typeface="Microsoft YaHei"/>
                <a:ea typeface="Microsoft YaHei"/>
              </a:rPr>
              <a:t>公司对标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52060" y="5806440"/>
            <a:ext cx="457200" cy="420624"/>
          </a:xfrm>
          <a:prstGeom prst="roundRect">
            <a:avLst>
              <a:gd name="adj" fmla="val 8000"/>
            </a:avLst>
          </a:prstGeom>
          <a:solidFill>
            <a:srgbClr val="2A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52060" y="5806440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CFDDF0"/>
                </a:solidFill>
                <a:latin typeface="Microsoft YaHei"/>
                <a:ea typeface="Microsoft YaHei"/>
              </a:rPr>
              <a:t>技术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37276" y="5806440"/>
            <a:ext cx="457200" cy="420624"/>
          </a:xfrm>
          <a:prstGeom prst="roundRect">
            <a:avLst>
              <a:gd name="adj" fmla="val 8000"/>
            </a:avLst>
          </a:prstGeom>
          <a:solidFill>
            <a:srgbClr val="2A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37276" y="5806440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CFDDF0"/>
                </a:solidFill>
                <a:latin typeface="Microsoft YaHei"/>
                <a:ea typeface="Microsoft YaHei"/>
              </a:rPr>
              <a:t>应用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22492" y="5806440"/>
            <a:ext cx="457200" cy="420624"/>
          </a:xfrm>
          <a:prstGeom prst="roundRect">
            <a:avLst>
              <a:gd name="adj" fmla="val 8000"/>
            </a:avLst>
          </a:prstGeom>
          <a:solidFill>
            <a:srgbClr val="2A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22492" y="5806440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CFDDF0"/>
                </a:solidFill>
                <a:latin typeface="Microsoft YaHei"/>
                <a:ea typeface="Microsoft YaHei"/>
              </a:rPr>
              <a:t>安全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07707" y="5806440"/>
            <a:ext cx="598932" cy="420624"/>
          </a:xfrm>
          <a:prstGeom prst="roundRect">
            <a:avLst>
              <a:gd name="adj" fmla="val 8000"/>
            </a:avLst>
          </a:prstGeom>
          <a:solidFill>
            <a:srgbClr val="2A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07707" y="5806440"/>
            <a:ext cx="59893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CFDDF0"/>
                </a:solidFill>
                <a:latin typeface="Microsoft YaHei"/>
                <a:ea typeface="Microsoft YaHei"/>
              </a:rPr>
              <a:t>商业化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34656" y="5806440"/>
            <a:ext cx="457200" cy="420624"/>
          </a:xfrm>
          <a:prstGeom prst="roundRect">
            <a:avLst>
              <a:gd name="adj" fmla="val 8000"/>
            </a:avLst>
          </a:prstGeom>
          <a:solidFill>
            <a:srgbClr val="2A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34656" y="5806440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CFDDF0"/>
                </a:solidFill>
                <a:latin typeface="Microsoft YaHei"/>
                <a:ea typeface="Microsoft YaHei"/>
              </a:rPr>
              <a:t>趋势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19872" y="5806440"/>
            <a:ext cx="457200" cy="420624"/>
          </a:xfrm>
          <a:prstGeom prst="roundRect">
            <a:avLst>
              <a:gd name="adj" fmla="val 8000"/>
            </a:avLst>
          </a:prstGeom>
          <a:solidFill>
            <a:srgbClr val="2A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19872" y="5806440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CFDDF0"/>
                </a:solidFill>
                <a:latin typeface="Microsoft YaHei"/>
                <a:ea typeface="Microsoft YaHei"/>
              </a:rPr>
              <a:t>风险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8000"/>
            </a:avLst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2937"/>
                </a:solidFill>
                <a:latin typeface="Microsoft YaHei"/>
                <a:ea typeface="Microsoft YaHei"/>
              </a:rPr>
              <a:t>摘要 · 核心观点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530352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E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0" y="530352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FA3A3"/>
                </a:solidFill>
                <a:latin typeface="Microsoft YaHei"/>
                <a:ea typeface="Microsoft YaHei"/>
              </a:rPr>
              <a:t>先看结论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07008"/>
            <a:ext cx="11091672" cy="27432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6528816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8368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AI Agent 行业现状报告 · 2026-08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583680"/>
            <a:ext cx="1673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2 / 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371600"/>
            <a:ext cx="11091672" cy="82296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426464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A3A3"/>
                </a:solidFill>
                <a:latin typeface="Microsoft YaHei"/>
                <a:ea typeface="Microsoft YaHei"/>
              </a:rPr>
              <a:t>核心结论：</a:t>
            </a: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Agent 已从「能不能做」进入「做得好不好、算不算得过来、出了事谁负责」的验证期；技术撑得起单点场景，但可靠性、单位经济、责任归属三道坎，让它仍卡在「单点工具」。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3172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</a:rPr>
              <a:t>五条判断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97480"/>
            <a:ext cx="5760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▸ 瓶颈从「模型不够聪明」转向「不够可靠、可控、便宜」。</a:t>
            </a:r>
          </a:p>
          <a:p>
            <a:pPr algn="l">
              <a:lnSpc>
                <a:spcPct val="122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▸ 市场「框架热、应用冷」：收得上钱的仍是代码 / 客服 / 办公。</a:t>
            </a:r>
          </a:p>
          <a:p>
            <a:pPr algn="l">
              <a:lnSpc>
                <a:spcPct val="122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▸ 竞争从「模型之争」转向「工具 + 数据闭环之争」。</a:t>
            </a:r>
          </a:p>
          <a:p>
            <a:pPr algn="l">
              <a:lnSpc>
                <a:spcPct val="122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▸ 商业化「按调用 / 按结果付费」为主，多数单位经济未打正。</a:t>
            </a:r>
          </a:p>
          <a:p>
            <a:pPr algn="l">
              <a:lnSpc>
                <a:spcPct val="122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▸ 安全合规是「发布门槛」，责任不清是 B 端采购最大隐性阻力。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317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</a:rPr>
              <a:t>关键数据快照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400800" y="2697480"/>
          <a:ext cx="52120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30632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指标</a:t>
                      </a:r>
                    </a:p>
                  </a:txBody>
                  <a:tcPr anchor="ctr" marL="73152" marR="73152" marT="18288" marB="18288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量级判断</a:t>
                      </a:r>
                    </a:p>
                  </a:txBody>
                  <a:tcPr anchor="ctr" marL="73152" marR="73152" marT="18288" marB="18288">
                    <a:solidFill>
                      <a:srgbClr val="0FA3A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狭义规模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2024 52.6亿 → 2030 526亿美元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广义支出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Gartner 2026 2019亿 → 2029 7527亿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编码能力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SWE-bench 80.9%（Claude Opus 4.5）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多步成功率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单步 90% × 20 步 → 约 12%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头部产品 ARR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Cursor $4B · Claude Code $2.5B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548640" y="5257800"/>
            <a:ext cx="5760720" cy="1051560"/>
          </a:xfrm>
          <a:prstGeom prst="roundRect">
            <a:avLst>
              <a:gd name="adj" fmla="val 8000"/>
            </a:avLst>
          </a:prstGeom>
          <a:solidFill>
            <a:srgbClr val="E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330952"/>
            <a:ext cx="5440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A3A3"/>
                </a:solidFill>
                <a:latin typeface="Microsoft YaHei"/>
                <a:ea typeface="Microsoft YaHei"/>
              </a:rPr>
              <a:t>投资建议（简版）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69280"/>
            <a:ext cx="5440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沿「代码→客服→办公→金融/法律」成熟度顺序，优先垂直 Agent 与有数据飞轮的场景。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5257800"/>
            <a:ext cx="5212080" cy="105156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5330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03A2B"/>
                </a:solidFill>
                <a:latin typeface="Microsoft YaHei"/>
                <a:ea typeface="Microsoft YaHei"/>
              </a:rPr>
              <a:t>风险提示（简版）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669280"/>
            <a:ext cx="4846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可靠性不及预期；单位经济打不正；提示注入 / 供应链投毒；监管趋严；同质化。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8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2937"/>
                </a:solidFill>
                <a:latin typeface="Microsoft YaHei"/>
                <a:ea typeface="Microsoft YaHei"/>
              </a:rPr>
              <a:t>目录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530352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E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0" y="530352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D6CDF"/>
                </a:solidFill>
                <a:latin typeface="Microsoft YaHei"/>
                <a:ea typeface="Microsoft YaHei"/>
              </a:rPr>
              <a:t>结构总览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07008"/>
            <a:ext cx="11091672" cy="2743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6528816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8368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AI Agent 行业现状报告 · 2026-08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583680"/>
            <a:ext cx="1673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3 / 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46304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7" y="1481328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937"/>
                </a:solidFill>
                <a:latin typeface="Microsoft YaHei"/>
                <a:ea typeface="Microsoft YaHei"/>
              </a:rPr>
              <a:t>行业复盘与定义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7" y="1828800"/>
            <a:ext cx="4709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Agent 是什么、从哪来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249424"/>
            <a:ext cx="502920" cy="502920"/>
          </a:xfrm>
          <a:prstGeom prst="roundRect">
            <a:avLst>
              <a:gd name="adj" fmla="val 8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24942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2267712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937"/>
                </a:solidFill>
                <a:latin typeface="Microsoft YaHei"/>
                <a:ea typeface="Microsoft YaHei"/>
              </a:rPr>
              <a:t>产业链分析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2615184"/>
            <a:ext cx="4709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上游算力/模型 → 中游框架 → 下游应用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035808"/>
            <a:ext cx="502920" cy="502920"/>
          </a:xfrm>
          <a:prstGeom prst="roundRect">
            <a:avLst>
              <a:gd name="adj" fmla="val 8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03580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7" y="3054096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937"/>
                </a:solidFill>
                <a:latin typeface="Microsoft YaHei"/>
                <a:ea typeface="Microsoft YaHei"/>
              </a:rPr>
              <a:t>市场规模与测算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7" y="3401568"/>
            <a:ext cx="4709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口径拆解 + 逐年增长 + 区域/细分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822191"/>
            <a:ext cx="502920" cy="502920"/>
          </a:xfrm>
          <a:prstGeom prst="roundRect">
            <a:avLst>
              <a:gd name="adj" fmla="val 8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822191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7007" y="3840479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937"/>
                </a:solidFill>
                <a:latin typeface="Microsoft YaHei"/>
                <a:ea typeface="Microsoft YaHei"/>
              </a:rPr>
              <a:t>竞争格局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007" y="4187952"/>
            <a:ext cx="4709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份额、集中度、价值链、竞争矩阵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608576"/>
            <a:ext cx="502920" cy="502920"/>
          </a:xfrm>
          <a:prstGeom prst="roundRect">
            <a:avLst>
              <a:gd name="adj" fmla="val 8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608576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07007" y="4626864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937"/>
                </a:solidFill>
                <a:latin typeface="Microsoft YaHei"/>
                <a:ea typeface="Microsoft YaHei"/>
              </a:rPr>
              <a:t>关键公司对标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07007" y="4974336"/>
            <a:ext cx="4709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8–12 家头部公司 + ARR 对比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39496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3949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07007" y="5413248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937"/>
                </a:solidFill>
                <a:latin typeface="Microsoft YaHei"/>
                <a:ea typeface="Microsoft YaHei"/>
              </a:rPr>
              <a:t>技术现状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07007" y="5760720"/>
            <a:ext cx="4709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透镜⑧：能不能做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146304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14630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76288" y="1481328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937"/>
                </a:solidFill>
                <a:latin typeface="Microsoft YaHei"/>
                <a:ea typeface="Microsoft YaHei"/>
              </a:rPr>
              <a:t>应用落地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76288" y="1828800"/>
            <a:ext cx="4709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透镜⑨：做得好不好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2249424"/>
            <a:ext cx="502920" cy="502920"/>
          </a:xfrm>
          <a:prstGeom prst="roundRect">
            <a:avLst>
              <a:gd name="adj" fmla="val 8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224942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八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2267712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937"/>
                </a:solidFill>
                <a:latin typeface="Microsoft YaHei"/>
                <a:ea typeface="Microsoft YaHei"/>
              </a:rPr>
              <a:t>信任安全合规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76288" y="2615184"/>
            <a:ext cx="4709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透镜⑩：守住底线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3035808"/>
            <a:ext cx="502920" cy="502920"/>
          </a:xfrm>
          <a:prstGeom prst="roundRect">
            <a:avLst>
              <a:gd name="adj" fmla="val 8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303580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76288" y="3054096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937"/>
                </a:solidFill>
                <a:latin typeface="Microsoft YaHei"/>
                <a:ea typeface="Microsoft YaHei"/>
              </a:rPr>
              <a:t>商业化经济性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76288" y="3401568"/>
            <a:ext cx="4709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透镜⑪：值不值赚不赚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3822191"/>
            <a:ext cx="502920" cy="502920"/>
          </a:xfrm>
          <a:prstGeom prst="roundRect">
            <a:avLst>
              <a:gd name="adj" fmla="val 8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17920" y="3822191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76288" y="3840479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937"/>
                </a:solidFill>
                <a:latin typeface="Microsoft YaHei"/>
                <a:ea typeface="Microsoft YaHei"/>
              </a:rPr>
              <a:t>趋势判断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6288" y="4187952"/>
            <a:ext cx="4709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12–24 个月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17920" y="4608576"/>
            <a:ext cx="502920" cy="502920"/>
          </a:xfrm>
          <a:prstGeom prst="roundRect">
            <a:avLst>
              <a:gd name="adj" fmla="val 8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17920" y="4608576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十一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76288" y="4626864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937"/>
                </a:solidFill>
                <a:latin typeface="Microsoft YaHei"/>
                <a:ea typeface="Microsoft YaHei"/>
              </a:rPr>
              <a:t>投资建议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76288" y="4974336"/>
            <a:ext cx="4709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评级 + 按环节列标的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7920" y="539496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17920" y="53949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十二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76288" y="5413248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937"/>
                </a:solidFill>
                <a:latin typeface="Microsoft YaHei"/>
                <a:ea typeface="Microsoft YaHei"/>
              </a:rPr>
              <a:t>风险提示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76288" y="5760720"/>
            <a:ext cx="4709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条目式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8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2937"/>
                </a:solidFill>
                <a:latin typeface="Microsoft YaHei"/>
                <a:ea typeface="Microsoft YaHei"/>
              </a:rPr>
              <a:t>一、行业复盘与定义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530352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E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0" y="530352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D6CDF"/>
                </a:solidFill>
                <a:latin typeface="Microsoft YaHei"/>
                <a:ea typeface="Microsoft YaHei"/>
              </a:rPr>
              <a:t>从哪来 · 是什么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07008"/>
            <a:ext cx="11091672" cy="2743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6528816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8368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AI Agent 行业现状报告 · 2026-08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583680"/>
            <a:ext cx="1673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4 / 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371600"/>
            <a:ext cx="5486400" cy="96012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43560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D6CD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73936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规划 + 工具调用 + 记忆 + 自主执行——拆解任务、调用工具、循环逼近目标，不再只是回答问题。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48716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</a:rPr>
              <a:t>与相邻形态：自主程度连续谱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2852928"/>
          <a:ext cx="3749040" cy="2066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280160"/>
                <a:gridCol w="640080"/>
                <a:gridCol w="9144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形态</a:t>
                      </a:r>
                    </a:p>
                  </a:txBody>
                  <a:tcPr anchor="ctr" marL="73152" marR="73152" marT="18288" marB="18288">
                    <a:solidFill>
                      <a:srgbClr val="2D6C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特征</a:t>
                      </a:r>
                    </a:p>
                  </a:txBody>
                  <a:tcPr anchor="ctr" marL="73152" marR="73152" marT="18288" marB="18288">
                    <a:solidFill>
                      <a:srgbClr val="2D6C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自主</a:t>
                      </a:r>
                    </a:p>
                  </a:txBody>
                  <a:tcPr anchor="ctr" marL="73152" marR="73152" marT="18288" marB="18288">
                    <a:solidFill>
                      <a:srgbClr val="2D6C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关系</a:t>
                      </a:r>
                    </a:p>
                  </a:txBody>
                  <a:tcPr anchor="ctr" marL="73152" marR="73152" marT="18288" marB="18288">
                    <a:solidFill>
                      <a:srgbClr val="2D6CD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Chatbot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只输出文本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无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底座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Copilot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人主导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低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前置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RPA/工作流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规则固定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中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互补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AI Agent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规划+工具+循环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高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收敛点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400800" y="137160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</a:rPr>
              <a:t>发展历程（2022.11 → 2026.04）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400800" y="1755648"/>
          <a:ext cx="52120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40690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时间</a:t>
                      </a:r>
                    </a:p>
                  </a:txBody>
                  <a:tcPr anchor="ctr" marL="73152" marR="73152" marT="18288" marB="18288">
                    <a:solidFill>
                      <a:srgbClr val="2D6C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事件</a:t>
                      </a:r>
                    </a:p>
                  </a:txBody>
                  <a:tcPr anchor="ctr" marL="73152" marR="73152" marT="18288" marB="18288">
                    <a:solidFill>
                      <a:srgbClr val="2D6CD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2022.11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ChatGPT 发布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2023.06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Function Calling 工具调用 API 化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2024.09/11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o1 推理 / MCP 开源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2025.01/04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Operator / Google A2A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2025.12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MCP 捐 Linux 基金会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2026.04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Gartner Hype Cycle 首发布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548640" y="5257800"/>
            <a:ext cx="11091672" cy="82296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34924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复盘：</a:t>
            </a: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</a:rPr>
              <a:t>Copilot → Agent → Multi-Agent；2025H2–2026H1 从「跑马圈地」进入「收敛」——标准定型、框架 1.0 化、编码 Agent 跑通商业模式、监管入场。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8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2937"/>
                </a:solidFill>
                <a:latin typeface="Microsoft YaHei"/>
                <a:ea typeface="Microsoft YaHei"/>
              </a:rPr>
              <a:t>二、产业链分析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530352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E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0" y="530352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D6CDF"/>
                </a:solidFill>
                <a:latin typeface="Microsoft YaHei"/>
                <a:ea typeface="Microsoft YaHei"/>
              </a:rPr>
              <a:t>上中下游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07008"/>
            <a:ext cx="11091672" cy="2743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6528816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8368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AI Agent 行业现状报告 · 2026-08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583680"/>
            <a:ext cx="1673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5 / 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371600"/>
            <a:ext cx="3611880" cy="457200"/>
          </a:xfrm>
          <a:prstGeom prst="roundRect">
            <a:avLst>
              <a:gd name="adj" fmla="val 8000"/>
            </a:avLst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上游 · 算力/模型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38528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11680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A3A3"/>
                </a:solidFill>
                <a:latin typeface="Microsoft YaHei"/>
                <a:ea typeface="Microsoft YaHei"/>
              </a:rPr>
              <a:t>算力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322576"/>
            <a:ext cx="3337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F2937"/>
                </a:solidFill>
                <a:latin typeface="Microsoft YaHei"/>
                <a:ea typeface="Microsoft YaHei"/>
              </a:rPr>
              <a:t>Nvidia 份额 80–90%，数据中心收入约 1940 亿美元/年；推理取代训练成增长主引擎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08376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3081528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A3A3"/>
                </a:solidFill>
                <a:latin typeface="Microsoft YaHei"/>
                <a:ea typeface="Microsoft YaHei"/>
              </a:rPr>
              <a:t>模型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3392424"/>
            <a:ext cx="3337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F2937"/>
                </a:solidFill>
                <a:latin typeface="Microsoft YaHei"/>
                <a:ea typeface="Microsoft YaHei"/>
              </a:rPr>
              <a:t>OpenAI $40B · Anthropic $30B · Google · DeepSeek · 智谱 · 通义 · 豆包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78224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4151376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A3A3"/>
                </a:solidFill>
                <a:latin typeface="Microsoft YaHei"/>
                <a:ea typeface="Microsoft YaHei"/>
              </a:rPr>
              <a:t>数据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4462272"/>
            <a:ext cx="3337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F2937"/>
                </a:solidFill>
                <a:latin typeface="Microsoft YaHei"/>
                <a:ea typeface="Microsoft YaHei"/>
              </a:rPr>
              <a:t>行业 know-how + 私域数据，价值沉淀在垂直应用层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88536" y="1371600"/>
            <a:ext cx="3611880" cy="457200"/>
          </a:xfrm>
          <a:prstGeom prst="roundRect">
            <a:avLst>
              <a:gd name="adj" fmla="val 8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88536" y="1371600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中游 · 框架/平台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88536" y="1938528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2011680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D6CDF"/>
                </a:solidFill>
                <a:latin typeface="Microsoft YaHei"/>
                <a:ea typeface="Microsoft YaHei"/>
              </a:rPr>
              <a:t>编排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2322576"/>
            <a:ext cx="3337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F2937"/>
                </a:solidFill>
                <a:latin typeface="Microsoft YaHei"/>
                <a:ea typeface="Microsoft YaHei"/>
              </a:rPr>
              <a:t>LangChain（月下载 9000 万）· CrewAI · Microsoft Agent Framework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88536" y="3008376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3081528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D6CDF"/>
                </a:solidFill>
                <a:latin typeface="Microsoft YaHei"/>
                <a:ea typeface="Microsoft YaHei"/>
              </a:rPr>
              <a:t>平台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3392424"/>
            <a:ext cx="3337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F2937"/>
                </a:solidFill>
                <a:latin typeface="Microsoft YaHei"/>
                <a:ea typeface="Microsoft YaHei"/>
              </a:rPr>
              <a:t>Copilot Studio（80%+ F500）· Dify · Coze · 百度千帆 · 阿里百炼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88536" y="4078224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34840" y="4151376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D6CDF"/>
                </a:solidFill>
                <a:latin typeface="Microsoft YaHei"/>
                <a:ea typeface="Microsoft YaHei"/>
              </a:rPr>
              <a:t>特征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4462272"/>
            <a:ext cx="3337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F2937"/>
                </a:solidFill>
                <a:latin typeface="Microsoft YaHei"/>
                <a:ea typeface="Microsoft YaHei"/>
              </a:rPr>
              <a:t>薄利润、强网络效应；开源免费是默认，护城河最弱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28431" y="1371600"/>
            <a:ext cx="3611880" cy="457200"/>
          </a:xfrm>
          <a:prstGeom prst="roundRect">
            <a:avLst>
              <a:gd name="adj" fmla="val 8000"/>
            </a:avLst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28431" y="1371600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下游 · 垂直应用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28431" y="1938528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74736" y="2011680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A3A3"/>
                </a:solidFill>
                <a:latin typeface="Microsoft YaHei"/>
                <a:ea typeface="Microsoft YaHei"/>
              </a:rPr>
              <a:t>代码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74736" y="2322576"/>
            <a:ext cx="3337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F2937"/>
                </a:solidFill>
                <a:latin typeface="Microsoft YaHei"/>
                <a:ea typeface="Microsoft YaHei"/>
              </a:rPr>
              <a:t>市场约 128 亿美元，CR3 占 70–80%；最成熟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28431" y="3008376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74736" y="3081528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A3A3"/>
                </a:solidFill>
                <a:latin typeface="Microsoft YaHei"/>
                <a:ea typeface="Microsoft YaHei"/>
              </a:rPr>
              <a:t>客服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74736" y="3392424"/>
            <a:ext cx="3337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F2937"/>
                </a:solidFill>
                <a:latin typeface="Microsoft YaHei"/>
                <a:ea typeface="Microsoft YaHei"/>
              </a:rPr>
              <a:t>Agentforce $1.2B · Sierra · Fin；按结果付费跑通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28431" y="4078224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74736" y="4151376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A3A3"/>
                </a:solidFill>
                <a:latin typeface="Microsoft YaHei"/>
                <a:ea typeface="Microsoft YaHei"/>
              </a:rPr>
              <a:t>办公/金融/法律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74736" y="4462272"/>
            <a:ext cx="3337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F2937"/>
                </a:solidFill>
                <a:latin typeface="Microsoft YaHei"/>
                <a:ea typeface="Microsoft YaHei"/>
              </a:rPr>
              <a:t>Copilot 3000 万席位 · Harvey 等，成熟度递减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8000"/>
            </a:avLst>
          </a:prstGeom>
          <a:solidFill>
            <a:srgbClr val="E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440680"/>
            <a:ext cx="10698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FA3A3"/>
                </a:solidFill>
                <a:latin typeface="Microsoft YaHei"/>
                <a:ea typeface="Microsoft YaHei"/>
              </a:rPr>
              <a:t>传导逻辑：</a:t>
            </a: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开源模型 + 混合路由使企业 token 成本 1 年降 67%（$18.40→$6.07/M）→ 上游降价打开下游毛利空间 → 下游按结果计价又放大上游 token 消耗，正反馈闭环。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8000"/>
            </a:avLst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2937"/>
                </a:solidFill>
                <a:latin typeface="Microsoft YaHei"/>
                <a:ea typeface="Microsoft YaHei"/>
              </a:rPr>
              <a:t>三、市场规模与测算（1/2）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530352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E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0" y="530352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FA3A3"/>
                </a:solidFill>
                <a:latin typeface="Microsoft YaHei"/>
                <a:ea typeface="Microsoft YaHei"/>
              </a:rPr>
              <a:t>增长曲线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07008"/>
            <a:ext cx="11091672" cy="27432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6528816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8368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AI Agent 行业现状报告 · 2026-08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583680"/>
            <a:ext cx="1673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6 / 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325880"/>
            <a:ext cx="11091672" cy="502920"/>
          </a:xfrm>
          <a:prstGeom prst="roundRect">
            <a:avLst>
              <a:gd name="adj" fmla="val 8000"/>
            </a:avLst>
          </a:prstGeom>
          <a:solidFill>
            <a:srgbClr val="E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325880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A3A3"/>
                </a:solidFill>
                <a:latin typeface="Microsoft YaHei"/>
                <a:ea typeface="Microsoft YaHei"/>
              </a:rPr>
              <a:t>口径拆解：</a:t>
            </a: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</a:rPr>
              <a:t>狭义（软件/平台）MarketsandMarkets/GVR/BCC ≈ 2025 78–80亿、2030 483–526亿；广义（Gartner）2029 7527亿，差一个数量级。</a:t>
            </a:r>
          </a:p>
        </p:txBody>
      </p:sp>
      <p:pic>
        <p:nvPicPr>
          <p:cNvPr id="14" name="Picture 13" descr="fig01_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33631"/>
            <a:ext cx="5486400" cy="3105136"/>
          </a:xfrm>
          <a:prstGeom prst="rect">
            <a:avLst/>
          </a:prstGeom>
        </p:spPr>
      </p:pic>
      <p:pic>
        <p:nvPicPr>
          <p:cNvPr id="15" name="Picture 14" descr="fig02_gart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326886"/>
            <a:ext cx="5486400" cy="311862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89788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狭义口径三家收敛：CAGR 43%–46%。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589788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Gartner：2027 年 Agentic 支出超越 chatbot；40% 项目或 2027 底前被搁置。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8000"/>
            </a:avLst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2937"/>
                </a:solidFill>
                <a:latin typeface="Microsoft YaHei"/>
                <a:ea typeface="Microsoft YaHei"/>
              </a:rPr>
              <a:t>三、市场规模与测算（2/2）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530352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E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0" y="530352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FA3A3"/>
                </a:solidFill>
                <a:latin typeface="Microsoft YaHei"/>
                <a:ea typeface="Microsoft YaHei"/>
              </a:rPr>
              <a:t>区域/细分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07008"/>
            <a:ext cx="11091672" cy="27432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6528816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8368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AI Agent 行业现状报告 · 2026-08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583680"/>
            <a:ext cx="1673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7 / 21</a:t>
            </a:r>
          </a:p>
        </p:txBody>
      </p:sp>
      <p:pic>
        <p:nvPicPr>
          <p:cNvPr id="12" name="Picture 11" descr="fig03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51" y="1463040"/>
            <a:ext cx="4437376" cy="3931920"/>
          </a:xfrm>
          <a:prstGeom prst="rect">
            <a:avLst/>
          </a:prstGeom>
        </p:spPr>
      </p:pic>
      <p:pic>
        <p:nvPicPr>
          <p:cNvPr id="13" name="Picture 12" descr="fig04_vert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730725"/>
            <a:ext cx="5486400" cy="33965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548640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</a:rPr>
              <a:t>区域：北美最大（44%），亚太增速最快。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548640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</a:rPr>
              <a:t>垂直 Agent（62.7%）显著快于通用（44.9%）；5 个垂直吃掉 520 亿市场的 80%。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8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2937"/>
                </a:solidFill>
                <a:latin typeface="Microsoft YaHei"/>
                <a:ea typeface="Microsoft YaHei"/>
              </a:rPr>
              <a:t>四、竞争格局（1/2）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530352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E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0" y="530352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D6CDF"/>
                </a:solidFill>
                <a:latin typeface="Microsoft YaHei"/>
                <a:ea typeface="Microsoft YaHei"/>
              </a:rPr>
              <a:t>份额/集中度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07008"/>
            <a:ext cx="11091672" cy="2743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6528816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8368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AI Agent 行业现状报告 · 2026-08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583680"/>
            <a:ext cx="1673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8 / 21</a:t>
            </a:r>
          </a:p>
        </p:txBody>
      </p:sp>
      <p:pic>
        <p:nvPicPr>
          <p:cNvPr id="12" name="Picture 11" descr="fig05_plat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49443"/>
            <a:ext cx="5486400" cy="3359113"/>
          </a:xfrm>
          <a:prstGeom prst="rect">
            <a:avLst/>
          </a:prstGeom>
        </p:spPr>
      </p:pic>
      <p:pic>
        <p:nvPicPr>
          <p:cNvPr id="13" name="Picture 12" descr="fig06_model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333" y="1463040"/>
            <a:ext cx="4400132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548640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</a:rPr>
              <a:t>企业平台部署 CR3 73%：Microsoft 31% + Salesforce 24% + Anthropic 18%。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按收入计集中度反而更低（CR5 略超 50%），74% 企业担忧锁定。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548640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</a:rPr>
              <a:t>模型层企业工作负载：Anthropic 40% 反超 OpenAI 27%。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编码 Agent CR3 占 70–80%；火山 MaaS 国内份额 49.5%。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8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2937"/>
                </a:solidFill>
                <a:latin typeface="Microsoft YaHei"/>
                <a:ea typeface="Microsoft YaHei"/>
              </a:rPr>
              <a:t>四、竞争格局（2/2）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530352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E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0" y="530352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D6CDF"/>
                </a:solidFill>
                <a:latin typeface="Microsoft YaHei"/>
                <a:ea typeface="Microsoft YaHei"/>
              </a:rPr>
              <a:t>价值链/矩阵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07008"/>
            <a:ext cx="11091672" cy="2743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6528816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8368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AI Agent 行业现状报告 · 2026-08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583680"/>
            <a:ext cx="1673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9 / 21</a:t>
            </a:r>
          </a:p>
        </p:txBody>
      </p:sp>
      <p:pic>
        <p:nvPicPr>
          <p:cNvPr id="12" name="Picture 11" descr="fig07_value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29208"/>
            <a:ext cx="5212080" cy="339958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5486400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算力仍是最大现金池（英伟达单季 752 亿 &gt; 模型厂+应用厂之和）——「卖铲人吃肉」。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943600" y="1463040"/>
          <a:ext cx="56235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1554480"/>
                <a:gridCol w="1554480"/>
                <a:gridCol w="15544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维度</a:t>
                      </a:r>
                    </a:p>
                  </a:txBody>
                  <a:tcPr anchor="ctr" marL="73152" marR="73152" marT="18288" marB="18288">
                    <a:solidFill>
                      <a:srgbClr val="2D6C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上游模型</a:t>
                      </a:r>
                    </a:p>
                  </a:txBody>
                  <a:tcPr anchor="ctr" marL="73152" marR="73152" marT="18288" marB="18288">
                    <a:solidFill>
                      <a:srgbClr val="2D6C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中游平台</a:t>
                      </a:r>
                    </a:p>
                  </a:txBody>
                  <a:tcPr anchor="ctr" marL="73152" marR="73152" marT="18288" marB="18288">
                    <a:solidFill>
                      <a:srgbClr val="2D6C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下游应用</a:t>
                      </a:r>
                    </a:p>
                  </a:txBody>
                  <a:tcPr anchor="ctr" marL="73152" marR="73152" marT="18288" marB="18288">
                    <a:solidFill>
                      <a:srgbClr val="2D6CD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竞争烈度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高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中高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中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护城河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模型+算力+数据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生态锁定(弱)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know-how+数据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赢家通吃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强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弱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弱-中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代表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OpenAI等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LangChain等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Agentforce等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943600" y="5486400"/>
            <a:ext cx="5669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护城河沿产业链向下游「行业 know-how + 私域数据」迁移；中游最弱，随时被上下游夹击。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8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2937"/>
                </a:solidFill>
                <a:latin typeface="Microsoft YaHei"/>
                <a:ea typeface="Microsoft YaHei"/>
              </a:rPr>
              <a:t>五、关键公司对标（1/2）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530352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E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0" y="530352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D6CDF"/>
                </a:solidFill>
                <a:latin typeface="Microsoft YaHei"/>
                <a:ea typeface="Microsoft YaHei"/>
              </a:rPr>
              <a:t>对标表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07008"/>
            <a:ext cx="11091672" cy="2743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6528816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8368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AI Agent 行业现状报告 · 2026-08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583680"/>
            <a:ext cx="1673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10 / 21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371600"/>
          <a:ext cx="1110996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377440"/>
                <a:gridCol w="2651760"/>
                <a:gridCol w="2148840"/>
                <a:gridCol w="23774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公司</a:t>
                      </a:r>
                    </a:p>
                  </a:txBody>
                  <a:tcPr anchor="ctr" marL="73152" marR="73152" marT="18288" marB="18288">
                    <a:solidFill>
                      <a:srgbClr val="2D6C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核心产品</a:t>
                      </a:r>
                    </a:p>
                  </a:txBody>
                  <a:tcPr anchor="ctr" marL="73152" marR="73152" marT="18288" marB="18288">
                    <a:solidFill>
                      <a:srgbClr val="2D6C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商业化(2026)</a:t>
                      </a:r>
                    </a:p>
                  </a:txBody>
                  <a:tcPr anchor="ctr" marL="73152" marR="73152" marT="18288" marB="18288">
                    <a:solidFill>
                      <a:srgbClr val="2D6C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用户/估值</a:t>
                      </a:r>
                    </a:p>
                  </a:txBody>
                  <a:tcPr anchor="ctr" marL="73152" marR="73152" marT="18288" marB="18288">
                    <a:solidFill>
                      <a:srgbClr val="2D6C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护城河</a:t>
                      </a:r>
                    </a:p>
                  </a:txBody>
                  <a:tcPr anchor="ctr" marL="73152" marR="73152" marT="18288" marB="18288">
                    <a:solidFill>
                      <a:srgbClr val="2D6CD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OpenAI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ChatGPT/Codex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年化 $40B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周活9亿·$852B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模型+用户+全栈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Anthropic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Claude/Claude Code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ARR $30B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$380B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企业信任+编码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Microsoft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Copilot/Studio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AI运行率 $37B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席位3000万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Office分发+Azure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Salesforce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Agentforce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ARR $1.2B(+205%)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2.9万订单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CRM数据+交叉销售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Cursor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Cursor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ARR ~$4B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$60B收购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编码IDE市占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Sierra/Fin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客服Agent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$0.2B/$0.1B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$15.8B/$3.6B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按结果付费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440680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</a:rPr>
              <a:t>国内：智谱 MaaS 17亿RMB · 豆包 ARR ~$4B · 通义百炼 80亿RMB，均未跑出「Agent 专属收入」大数。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8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2937"/>
                </a:solidFill>
                <a:latin typeface="Microsoft YaHei"/>
                <a:ea typeface="Microsoft YaHei"/>
              </a:rPr>
              <a:t>五、关键公司对标（2/2）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530352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E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0" y="530352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D6CDF"/>
                </a:solidFill>
                <a:latin typeface="Microsoft YaHei"/>
                <a:ea typeface="Microsoft YaHei"/>
              </a:rPr>
              <a:t>ARR 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07008"/>
            <a:ext cx="11091672" cy="2743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6528816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8368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AI Agent 行业现状报告 · 2026-08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583680"/>
            <a:ext cx="1673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11 / 21</a:t>
            </a:r>
          </a:p>
        </p:txBody>
      </p:sp>
      <p:pic>
        <p:nvPicPr>
          <p:cNvPr id="12" name="Picture 11" descr="fig08_a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558752"/>
            <a:ext cx="9601200" cy="401481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5760720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</a:rPr>
              <a:t>结论：商业化分三层——模型+平台赚大钱（OpenAI $40B/Microsoft $37B/Anthropic $30B）；垂直 Agent 高增速小基数（Cursor $4B/Agentforce $1.2B）；按结果付费客服最小但最快（Fin +350%）。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8000"/>
            </a:avLst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2937"/>
                </a:solidFill>
                <a:latin typeface="Microsoft YaHei"/>
                <a:ea typeface="Microsoft YaHei"/>
              </a:rPr>
              <a:t>六、技术现状（1/3）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530352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E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0" y="530352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FA3A3"/>
                </a:solidFill>
                <a:latin typeface="Microsoft YaHei"/>
                <a:ea typeface="Microsoft YaHei"/>
              </a:rPr>
              <a:t>能不能做 · ⑧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07008"/>
            <a:ext cx="11091672" cy="27432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6528816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8368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AI Agent 行业现状报告 · 2026-08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583680"/>
            <a:ext cx="1673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12 / 21</a:t>
            </a:r>
          </a:p>
        </p:txBody>
      </p:sp>
      <p:pic>
        <p:nvPicPr>
          <p:cNvPr id="12" name="Picture 11" descr="fig09_swe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47746"/>
            <a:ext cx="5486400" cy="3362507"/>
          </a:xfrm>
          <a:prstGeom prst="rect">
            <a:avLst/>
          </a:prstGeom>
        </p:spPr>
      </p:pic>
      <p:pic>
        <p:nvPicPr>
          <p:cNvPr id="13" name="Picture 12" descr="fig10_oswor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984726"/>
            <a:ext cx="5486400" cy="288854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548640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SWE-bench：Claude Opus 4.5 达 80.9%，编码是提升最快、可验证的领域。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548640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OSWorld：Simular S2 72.6% 首次超人类（72.36%）；GUI 操作仍在爬坡。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8000"/>
            </a:avLst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2937"/>
                </a:solidFill>
                <a:latin typeface="Microsoft YaHei"/>
                <a:ea typeface="Microsoft YaHei"/>
              </a:rPr>
              <a:t>六、技术现状（2/3）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530352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E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0" y="530352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FA3A3"/>
                </a:solidFill>
                <a:latin typeface="Microsoft YaHei"/>
                <a:ea typeface="Microsoft YaHei"/>
              </a:rPr>
              <a:t>长程/成本 · ⑧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07008"/>
            <a:ext cx="11091672" cy="27432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6528816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8368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AI Agent 行业现状报告 · 2026-08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583680"/>
            <a:ext cx="1673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13 / 21</a:t>
            </a:r>
          </a:p>
        </p:txBody>
      </p:sp>
      <p:pic>
        <p:nvPicPr>
          <p:cNvPr id="12" name="Picture 11" descr="fig11_me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49152"/>
            <a:ext cx="5486400" cy="3359695"/>
          </a:xfrm>
          <a:prstGeom prst="rect">
            <a:avLst/>
          </a:prstGeom>
        </p:spPr>
      </p:pic>
      <p:pic>
        <p:nvPicPr>
          <p:cNvPr id="13" name="Picture 12" descr="fig12_c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94768"/>
            <a:ext cx="5486400" cy="346846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548640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METR：50% 时间线约每 3–4 个月翻倍（Opus 4.5 达 289 分钟）；要求 80% 成功率时骤降至 15 分钟。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548640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成本：旗舰输出价 17 个月降 6 倍（$60→$10），小模型侧降 100 倍。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8000"/>
            </a:avLst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2937"/>
                </a:solidFill>
                <a:latin typeface="Microsoft YaHei"/>
                <a:ea typeface="Microsoft YaHei"/>
              </a:rPr>
              <a:t>六、技术现状（3/3）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530352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E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0" y="530352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FA3A3"/>
                </a:solidFill>
                <a:latin typeface="Microsoft YaHei"/>
                <a:ea typeface="Microsoft YaHei"/>
              </a:rPr>
              <a:t>复利误差 · ⑧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07008"/>
            <a:ext cx="11091672" cy="27432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6528816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8368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AI Agent 行业现状报告 · 2026-08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583680"/>
            <a:ext cx="1673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14 / 21</a:t>
            </a:r>
          </a:p>
        </p:txBody>
      </p:sp>
      <p:pic>
        <p:nvPicPr>
          <p:cNvPr id="12" name="Picture 11" descr="fig13_dec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6399"/>
            <a:ext cx="5852160" cy="3745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5120" y="14630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</a:rPr>
              <a:t>技术瓶颈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874519"/>
            <a:ext cx="49377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▸ 幻觉：通用 22%–94%，执行类代价被急剧放大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▸ 多步成功率：单步 90% × 20 步 → 仅约 12%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▸ 长程任务：真实成功率多数 &lt; 20%（METR）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▸ 延迟成本：多步 p95 达 58–90 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4480560"/>
            <a:ext cx="4937760" cy="1371600"/>
          </a:xfrm>
          <a:prstGeom prst="roundRect">
            <a:avLst>
              <a:gd name="adj" fmla="val 8000"/>
            </a:avLst>
          </a:prstGeom>
          <a:solidFill>
            <a:srgbClr val="E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4572000"/>
            <a:ext cx="4572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0FA3A3"/>
                </a:solidFill>
                <a:latin typeface="Microsoft YaHei"/>
                <a:ea typeface="Microsoft YaHei"/>
              </a:rPr>
              <a:t>判断：</a:t>
            </a: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单点、封闭、可验证场景「能」；基准快速上升，真实环境端到端慢一个量级。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8000"/>
            </a:avLst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2937"/>
                </a:solidFill>
                <a:latin typeface="Microsoft YaHei"/>
                <a:ea typeface="Microsoft YaHei"/>
              </a:rPr>
              <a:t>七、应用落地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530352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E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0" y="530352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FA3A3"/>
                </a:solidFill>
                <a:latin typeface="Microsoft YaHei"/>
                <a:ea typeface="Microsoft YaHei"/>
              </a:rPr>
              <a:t>做得好不好 · ⑨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07008"/>
            <a:ext cx="11091672" cy="27432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6528816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8368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AI Agent 行业现状报告 · 2026-08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583680"/>
            <a:ext cx="1673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15 / 21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371600"/>
          <a:ext cx="51206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554480"/>
                <a:gridCol w="1645920"/>
                <a:gridCol w="13716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场景</a:t>
                      </a:r>
                    </a:p>
                  </a:txBody>
                  <a:tcPr anchor="ctr" marL="73152" marR="73152" marT="18288" marB="18288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落地形态</a:t>
                      </a:r>
                    </a:p>
                  </a:txBody>
                  <a:tcPr anchor="ctr" marL="73152" marR="73152" marT="18288" marB="18288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为何跑通</a:t>
                      </a:r>
                    </a:p>
                  </a:txBody>
                  <a:tcPr anchor="ctr" marL="73152" marR="73152" marT="18288" marB="18288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关键数字</a:t>
                      </a:r>
                    </a:p>
                  </a:txBody>
                  <a:tcPr anchor="ctr" marL="73152" marR="73152" marT="18288" marB="18288"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代码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Claude Code/Cursor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可编译可测试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SWE-bench + ARR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客服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Agentforce/Fin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封闭+转人工兜底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解决率63–90%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办公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M365 Copilot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流程相对确定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席位3000万+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营销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万相台/AgenticOS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ROI可归因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ROI+20%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金融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Bloomberg ASKB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数据密集+人机协同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尽调周级→小时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3" name="Picture 12" descr="fig14_pene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035" y="1371600"/>
            <a:ext cx="4932408" cy="310896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48640" y="5029200"/>
            <a:ext cx="54864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10235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03A2B"/>
                </a:solidFill>
                <a:latin typeface="Microsoft YaHei"/>
                <a:ea typeface="Microsoft YaHei"/>
              </a:rPr>
              <a:t>仍未跑通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40680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</a:rPr>
              <a:t>长程自主任务（METR「0% 无需人工清理可用」）；高风险执行；长记忆/跨系统状态。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5029200"/>
            <a:ext cx="54864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分水岭不是「有没有 AI 价值」，而是「能否建评估集 + 在线指标 + 数据闭环」——评测能力决定落地顺序。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8000"/>
            </a:avLst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2937"/>
                </a:solidFill>
                <a:latin typeface="Microsoft YaHei"/>
                <a:ea typeface="Microsoft YaHei"/>
              </a:rPr>
              <a:t>八、信任、安全与合规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530352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E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0" y="530352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FA3A3"/>
                </a:solidFill>
                <a:latin typeface="Microsoft YaHei"/>
                <a:ea typeface="Microsoft YaHei"/>
              </a:rPr>
              <a:t>守住底线 · ⑩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07008"/>
            <a:ext cx="11091672" cy="27432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6528816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8368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AI Agent 行业现状报告 · 2026-08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583680"/>
            <a:ext cx="1673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16 / 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37160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46304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03A2B"/>
                </a:solidFill>
                <a:latin typeface="Microsoft YaHei"/>
                <a:ea typeface="Microsoft YaHei"/>
              </a:rPr>
              <a:t>提示注入（头号）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F2937"/>
                </a:solidFill>
                <a:latin typeface="Microsoft YaHei"/>
                <a:ea typeface="Microsoft YaHei"/>
              </a:rPr>
              <a:t>OWASP LLM01 连续两版第一；受控测试凭据外泄 96%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88536" y="137160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1416" y="146304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03A2B"/>
                </a:solidFill>
                <a:latin typeface="Microsoft YaHei"/>
                <a:ea typeface="Microsoft YaHei"/>
              </a:rPr>
              <a:t>越权/误操作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1810512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F2937"/>
                </a:solidFill>
                <a:latin typeface="Microsoft YaHei"/>
                <a:ea typeface="Microsoft YaHei"/>
              </a:rPr>
              <a:t>Agent 继承用户完整权限，缺最小权限控制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1" y="137160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1" y="146304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03A2B"/>
                </a:solidFill>
                <a:latin typeface="Microsoft YaHei"/>
                <a:ea typeface="Microsoft YaHei"/>
              </a:rPr>
              <a:t>MCP 供应链投毒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1" y="1810512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F2937"/>
                </a:solidFill>
                <a:latin typeface="Microsoft YaHei"/>
                <a:ea typeface="Microsoft YaHei"/>
              </a:rPr>
              <a:t>工具描述中毒平均攻击成功率 36.5%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4688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</a:rPr>
              <a:t>责任归属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834640"/>
            <a:ext cx="5669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AI 无法律人格，责任落在部署方/开发方（Air Canada 被判兑现聊天机器人承诺）。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</a:rPr>
              <a:t>「法律不确定、部署方兜底、传统保险退场、专属 AI 险萌芽」。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6888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</a:rPr>
              <a:t>监管三地分轨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834640"/>
            <a:ext cx="52120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中国：双备案 + 内容标识 + 数据出境（已处置违规智能体 3500+ 款）。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欧盟：EU AI Act「可审计 + 可兜底 + 可问责」。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美国：联邦轻监管、州法反推、DOJ 刑事执法优先。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572000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E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70916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A3A3"/>
                </a:solidFill>
                <a:latin typeface="Microsoft YaHei"/>
                <a:ea typeface="Microsoft YaHei"/>
              </a:rPr>
              <a:t>发布门槛：安全 + 兜底 + 指标 + 监控，不过关不发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12064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</a:rPr>
              <a:t>业界正从「模型层对齐」转向「环境层强制 + 最小权限 + 人工确认关键动作 + 可审计日志」。</a:t>
            </a:r>
          </a:p>
          <a:p>
            <a:pPr algn="l">
              <a:lnSpc>
                <a:spcPct val="120000"/>
              </a:lnSpc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Agent 产品经理第一职责：先想清楚怎么不闯祸，再谈功能多强。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8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2937"/>
                </a:solidFill>
                <a:latin typeface="Microsoft YaHei"/>
                <a:ea typeface="Microsoft YaHei"/>
              </a:rPr>
              <a:t>九、商业化与经济性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530352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E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0" y="530352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D6CDF"/>
                </a:solidFill>
                <a:latin typeface="Microsoft YaHei"/>
                <a:ea typeface="Microsoft YaHei"/>
              </a:rPr>
              <a:t>值不值赚不赚 · ⑪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07008"/>
            <a:ext cx="11091672" cy="2743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6528816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8368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AI Agent 行业现状报告 · 2026-08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583680"/>
            <a:ext cx="1673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17 / 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371600"/>
            <a:ext cx="11091672" cy="621792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426464"/>
            <a:ext cx="106984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</a:rPr>
              <a:t>一次任务 = 规划 + 多轮工具调用 + 反思 + 重试，Token 放大 5–30x（编码极端 1000x）；主因是重试与静默失败，不是模型贵。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2194560"/>
          <a:ext cx="5303520" cy="2139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560320"/>
                <a:gridCol w="18288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环节</a:t>
                      </a:r>
                    </a:p>
                  </a:txBody>
                  <a:tcPr anchor="ctr" marL="73152" marR="73152" marT="18288" marB="18288">
                    <a:solidFill>
                      <a:srgbClr val="2D6C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现状</a:t>
                      </a:r>
                    </a:p>
                  </a:txBody>
                  <a:tcPr anchor="ctr" marL="73152" marR="73152" marT="18288" marB="18288">
                    <a:solidFill>
                      <a:srgbClr val="2D6C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判断</a:t>
                      </a:r>
                    </a:p>
                  </a:txBody>
                  <a:tcPr anchor="ctr" marL="73152" marR="73152" marT="18288" marB="18288">
                    <a:solidFill>
                      <a:srgbClr val="2D6CD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推理成本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同能力 2 年降 80–90%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被多步放大抵消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定价建模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向按结果付费迁移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把风险转给供应商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付费意愿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B 端愿付，C 端 71% 要免费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分化大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数据飞轮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代码/客服有，多数没有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真正的护城河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6400800" y="2194560"/>
            <a:ext cx="5212080" cy="27432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23317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A3A3"/>
                </a:solidFill>
                <a:latin typeface="Microsoft YaHei"/>
                <a:ea typeface="Microsoft YaHei"/>
              </a:rPr>
              <a:t>核心矛盾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743200"/>
            <a:ext cx="47548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价值越高（越自主）→ 单次成本越高 → 越难定价 → 越难算清账。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BFD0E8"/>
                </a:solidFill>
                <a:latin typeface="Microsoft YaHei"/>
                <a:ea typeface="Microsoft YaHei"/>
              </a:rPr>
              <a:t>单位经济只在「高频、可量化、容错低」场景打正（代码/客服）。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A3A3"/>
                </a:solidFill>
                <a:latin typeface="Microsoft YaHei"/>
                <a:ea typeface="Microsoft YaHei"/>
              </a:rPr>
              <a:t>→ 选场景即选商业模式，第一性动作是「算账」而非「堆能力」。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49240"/>
            <a:ext cx="11091672" cy="73152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394960"/>
            <a:ext cx="10698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</a:rPr>
              <a:t>按结果付费：HubSpot $0.50/解决 · Intercom Fin $0.99/解决 · Sierra $1.50/解决——护城河来自数据飞轮，不是算法。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8000"/>
            </a:avLst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2937"/>
                </a:solidFill>
                <a:latin typeface="Microsoft YaHei"/>
                <a:ea typeface="Microsoft YaHei"/>
              </a:rPr>
              <a:t>十、趋势判断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530352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E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0" y="530352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FA3A3"/>
                </a:solidFill>
                <a:latin typeface="Microsoft YaHei"/>
                <a:ea typeface="Microsoft YaHei"/>
              </a:rPr>
              <a:t>12–24 个月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07008"/>
            <a:ext cx="11091672" cy="27432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6528816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8368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AI Agent 行业现状报告 · 2026-08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583680"/>
            <a:ext cx="1673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18 / 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371600"/>
            <a:ext cx="5486400" cy="502920"/>
          </a:xfrm>
          <a:prstGeom prst="roundRect">
            <a:avLst>
              <a:gd name="adj" fmla="val 8000"/>
            </a:avLst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5486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高确定性趋势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011680"/>
            <a:ext cx="53035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</a:rPr>
              <a:t>▸ 推理成本持续下降（12 个月再降 40%+），但多步吃掉红利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</a:rPr>
              <a:t>▸ 工具调用标准化：MCP / A2A 成事实标准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</a:rPr>
              <a:t>▸ Agent 嵌入垂直工作流（垂直 CAGR 62.7% &gt; 整体 44.9%）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</a:rPr>
              <a:t>▸ 安全合规前置：可审计、可兜底、分层发布成标配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</a:rPr>
              <a:t>▸ 「慢思考 + 反思」成默认架构，按难度分配算力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371600"/>
            <a:ext cx="5394960" cy="502920"/>
          </a:xfrm>
          <a:prstGeom prst="roundRect">
            <a:avLst>
              <a:gd name="adj" fmla="val 8000"/>
            </a:avLst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371600"/>
            <a:ext cx="5394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高分歧 / 不确定点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011680"/>
            <a:ext cx="52120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</a:rPr>
              <a:t>▸ 多智能体是否必要（默认单 Agent，必要时才多 Agent）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</a:rPr>
              <a:t>▸ 是否出现「Agent 平台型超级应用」，入口归属未定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</a:rPr>
              <a:t>▸ 通用 Agent 何时可托付（乐观 2026 底–2027，谨慎半自主）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</a:rPr>
              <a:t>▸ 按结果付费能否主流（混合模式更现实，纯结果短期难）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8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2937"/>
                </a:solidFill>
                <a:latin typeface="Microsoft YaHei"/>
                <a:ea typeface="Microsoft YaHei"/>
              </a:rPr>
              <a:t>十一、投资建议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530352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E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0" y="530352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D6CDF"/>
                </a:solidFill>
                <a:latin typeface="Microsoft YaHei"/>
                <a:ea typeface="Microsoft YaHei"/>
              </a:rPr>
              <a:t>评级 + 标的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07008"/>
            <a:ext cx="11091672" cy="2743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6528816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8368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AI Agent 行业现状报告 · 2026-08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583680"/>
            <a:ext cx="1673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19 / 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37160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426464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A3A3"/>
                </a:solidFill>
                <a:latin typeface="Microsoft YaHei"/>
                <a:ea typeface="Microsoft YaHei"/>
              </a:rPr>
              <a:t>行业评级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7556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看好（首次覆盖）：技术单点可用 + 代码/客服商业模式已跑通 + 成本持续下探，结构性机会在「垂直 Agent + 数据飞轮」。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2377440"/>
          <a:ext cx="8046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926080"/>
                <a:gridCol w="301752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环节</a:t>
                      </a:r>
                    </a:p>
                  </a:txBody>
                  <a:tcPr anchor="ctr" marL="73152" marR="73152" marT="18288" marB="18288">
                    <a:solidFill>
                      <a:srgbClr val="2D6C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关注</a:t>
                      </a:r>
                    </a:p>
                  </a:txBody>
                  <a:tcPr anchor="ctr" marL="73152" marR="73152" marT="18288" marB="18288">
                    <a:solidFill>
                      <a:srgbClr val="2D6C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理由</a:t>
                      </a:r>
                    </a:p>
                  </a:txBody>
                  <a:tcPr anchor="ctr" marL="73152" marR="73152" marT="18288" marB="18288">
                    <a:solidFill>
                      <a:srgbClr val="2D6CD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模型/算力层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OpenAI · Anthropic · Nvidia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算力为最大现金池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垂直 Agent 层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Cursor · Agentforce · Sierra · Fin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代码/客服已跑通商业化</a:t>
                      </a:r>
                    </a:p>
                  </a:txBody>
                  <a:tcPr anchor="ctr" marL="73152" marR="73152" marT="18288" marB="18288">
                    <a:solidFill>
                      <a:srgbClr val="F0F3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国内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智谱 · 豆包 · 通义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MaaS 层，Agent 专属收入待验证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548640" y="4480560"/>
            <a:ext cx="11091672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4480560"/>
            <a:ext cx="548640" cy="475488"/>
          </a:xfrm>
          <a:prstGeom prst="roundRect">
            <a:avLst>
              <a:gd name="adj" fmla="val 8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480560"/>
            <a:ext cx="5486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480560"/>
            <a:ext cx="102412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</a:rPr>
              <a:t>用「评测」倒逼「落地」</a:t>
            </a: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　先定义评估集与在线指标，评不出的场景先不做（⑨）。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029200"/>
            <a:ext cx="11091672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5029200"/>
            <a:ext cx="548640" cy="475488"/>
          </a:xfrm>
          <a:prstGeom prst="roundRect">
            <a:avLst>
              <a:gd name="adj" fmla="val 8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029200"/>
            <a:ext cx="5486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029200"/>
            <a:ext cx="102412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</a:rPr>
              <a:t>把「单位经济」当第一过滤器</a:t>
            </a: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　优先高频、可量化、容错低、有数据飞轮的场景（⑪）。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577840"/>
            <a:ext cx="11091672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5577840"/>
            <a:ext cx="548640" cy="475488"/>
          </a:xfrm>
          <a:prstGeom prst="roundRect">
            <a:avLst>
              <a:gd name="adj" fmla="val 8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577840"/>
            <a:ext cx="5486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577840"/>
            <a:ext cx="102412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</a:rPr>
              <a:t>把安全与责任当「发布门槛」</a:t>
            </a: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　内建权限边界、兜底与可审计，红队 + 分层发布（⑩）。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8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2937"/>
                </a:solidFill>
                <a:latin typeface="Microsoft YaHei"/>
                <a:ea typeface="Microsoft YaHei"/>
              </a:rPr>
              <a:t>十二、风险提示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530352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E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0" y="530352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D6CDF"/>
                </a:solidFill>
                <a:latin typeface="Microsoft YaHei"/>
                <a:ea typeface="Microsoft YaHei"/>
              </a:rPr>
              <a:t>条目式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07008"/>
            <a:ext cx="11091672" cy="2743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6528816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8368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AI Agent 行业现状报告 · 2026-08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583680"/>
            <a:ext cx="1673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20 / 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371600"/>
            <a:ext cx="11091672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371600"/>
            <a:ext cx="64008" cy="749808"/>
          </a:xfrm>
          <a:prstGeom prst="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4447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</a:rPr>
              <a:t>多步可靠性提升不及预期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1792224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Microsoft YaHei"/>
                <a:ea typeface="Microsoft YaHei"/>
              </a:rPr>
              <a:t>单步衰减是数学约束，若长程成功率无法突破，Agent 将长期停留在「单点工具」。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212848"/>
            <a:ext cx="11091672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212848"/>
            <a:ext cx="64008" cy="749808"/>
          </a:xfrm>
          <a:prstGeom prst="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2860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</a:rPr>
              <a:t>单位经济长期打不正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633472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Microsoft YaHei"/>
                <a:ea typeface="Microsoft YaHei"/>
              </a:rPr>
              <a:t>多步放大推理成本，若按结果付费覆盖不了重试成本，商业化将停滞。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054096"/>
            <a:ext cx="11091672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054096"/>
            <a:ext cx="64008" cy="749808"/>
          </a:xfrm>
          <a:prstGeom prst="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12724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</a:rPr>
              <a:t>提示注入 / 供应链投毒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474720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Microsoft YaHei"/>
                <a:ea typeface="Microsoft YaHei"/>
              </a:rPr>
              <a:t>头号威胁无纯模型解，重大事故将触发监管收紧与采购观望。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895344"/>
            <a:ext cx="11091672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895344"/>
            <a:ext cx="64008" cy="749808"/>
          </a:xfrm>
          <a:prstGeom prst="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96849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</a:rPr>
              <a:t>监管趋严抬高门槛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315968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Microsoft YaHei"/>
                <a:ea typeface="Microsoft YaHei"/>
              </a:rPr>
              <a:t>EU AI Act / 中国双备案若加码，抬高发布成本、拖慢落地。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736592"/>
            <a:ext cx="11091672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736592"/>
            <a:ext cx="64008" cy="749808"/>
          </a:xfrm>
          <a:prstGeom prst="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80974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</a:rPr>
              <a:t>同质化竞争价值难沉淀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157216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Microsoft YaHei"/>
                <a:ea typeface="Microsoft YaHei"/>
              </a:rPr>
              <a:t>中游框架供给过剩、开源免费，利润被上下游两头挤压。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577840"/>
            <a:ext cx="11091672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5577840"/>
            <a:ext cx="64008" cy="749808"/>
          </a:xfrm>
          <a:prstGeom prst="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65099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</a:rPr>
              <a:t>市场空间测算偏差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998464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Microsoft YaHei"/>
                <a:ea typeface="Microsoft YaHei"/>
              </a:rPr>
              <a:t>规模测算基于第三方口径与 CAGR 假设，实际可能与测算存在偏差。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免责声明 · 评级说明 · 分析师声明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FA3A3"/>
                </a:solidFill>
                <a:latin typeface="Microsoft YaHei"/>
                <a:ea typeface="Microsoft YaHei"/>
              </a:rPr>
              <a:t>免责声明：</a:t>
            </a:r>
            <a:r>
              <a:rPr sz="1250" b="0">
                <a:solidFill>
                  <a:srgbClr val="E8EEF7"/>
                </a:solidFill>
                <a:latin typeface="Microsoft YaHei"/>
                <a:ea typeface="Microsoft YaHei"/>
              </a:rPr>
              <a:t>本报告基于公开信息与第三方机构（MarketsandMarkets、GVR、BCC、Gartner、Omdia、Papers with Code、METR、Menlo Ventures 等）数据整理，仅供学习与研究参考，不构成任何投资建议。文中标注 [估计]/[推算] 的数据为基于公开 CAGR 或跨口径推断的估算值，可能与实际存在偏差；数据截至 2026-08，如有最新一手来源应回填替换。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0FA3A3"/>
                </a:solidFill>
                <a:latin typeface="Microsoft YaHei"/>
                <a:ea typeface="Microsoft YaHei"/>
              </a:rPr>
              <a:t>评级说明：</a:t>
            </a:r>
            <a:r>
              <a:rPr sz="1250" b="0">
                <a:solidFill>
                  <a:srgbClr val="E8EEF7"/>
                </a:solidFill>
                <a:latin typeface="Microsoft YaHei"/>
                <a:ea typeface="Microsoft YaHei"/>
              </a:rPr>
              <a:t>买入（相对指数 +15% 以上）/ 增持（5%–15%）/ 持有（-5%–5%）/ 卖出（-5% 以下）；行业评级：强于大市 / 中性 / 弱于大市。本报告为行业层「看好」，不对单一标的给出个股评级。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0FA3A3"/>
                </a:solidFill>
                <a:latin typeface="Microsoft YaHei"/>
                <a:ea typeface="Microsoft YaHei"/>
              </a:rPr>
              <a:t>分析师声明：</a:t>
            </a:r>
            <a:r>
              <a:rPr sz="1250" b="0">
                <a:solidFill>
                  <a:srgbClr val="E8EEF7"/>
                </a:solidFill>
                <a:latin typeface="Microsoft YaHei"/>
                <a:ea typeface="Microsoft YaHei"/>
              </a:rPr>
              <a:t>本报告作者不持有文中提及任何公司的证券，与所述公司无利益关联。未经许可，不得转载或用于商业用途。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94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谢谢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528816"/>
            <a:ext cx="11091672" cy="10972"/>
          </a:xfrm>
          <a:prstGeom prst="rect">
            <a:avLst/>
          </a:prstGeom>
          <a:solidFill>
            <a:srgbClr val="3A4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FD0E8"/>
                </a:solidFill>
                <a:latin typeface="Microsoft YaHei"/>
                <a:ea typeface="Microsoft YaHei"/>
              </a:rPr>
              <a:t>AI Agent 行业现状报告 · 2026-08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583680"/>
            <a:ext cx="1673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FD0E8"/>
                </a:solidFill>
                <a:latin typeface="Microsoft YaHei"/>
                <a:ea typeface="Microsoft YaHei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